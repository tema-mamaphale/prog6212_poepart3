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21"/>
  </p:notesMasterIdLst>
  <p:handoutMasterIdLst>
    <p:handoutMasterId r:id="rId22"/>
  </p:handoutMasterIdLst>
  <p:sldIdLst>
    <p:sldId id="256" r:id="rId5"/>
    <p:sldId id="343" r:id="rId6"/>
    <p:sldId id="345" r:id="rId7"/>
    <p:sldId id="346" r:id="rId8"/>
    <p:sldId id="347" r:id="rId9"/>
    <p:sldId id="360" r:id="rId10"/>
    <p:sldId id="348" r:id="rId11"/>
    <p:sldId id="361" r:id="rId12"/>
    <p:sldId id="362" r:id="rId13"/>
    <p:sldId id="349" r:id="rId14"/>
    <p:sldId id="350" r:id="rId15"/>
    <p:sldId id="351" r:id="rId16"/>
    <p:sldId id="352" r:id="rId17"/>
    <p:sldId id="353" r:id="rId18"/>
    <p:sldId id="358" r:id="rId19"/>
    <p:sldId id="35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6E55E8-1095-4778-8E74-4AD9EF94E144}" v="160" dt="2025-11-21T15:21:03.9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5934"/>
  </p:normalViewPr>
  <p:slideViewPr>
    <p:cSldViewPr snapToGrid="0">
      <p:cViewPr>
        <p:scale>
          <a:sx n="68" d="100"/>
          <a:sy n="68" d="100"/>
        </p:scale>
        <p:origin x="1253" y="288"/>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F03B4C-7222-461B-BA71-2B563A449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6015D50-859B-4A21-BBA7-D227472F19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51ED0-8724-4321-9903-1B6C4397769A}" type="datetimeFigureOut">
              <a:rPr lang="en-US" smtClean="0"/>
              <a:t>11/20/2025</a:t>
            </a:fld>
            <a:endParaRPr lang="en-US" dirty="0"/>
          </a:p>
        </p:txBody>
      </p:sp>
      <p:sp>
        <p:nvSpPr>
          <p:cNvPr id="4" name="Footer Placeholder 3">
            <a:extLst>
              <a:ext uri="{FF2B5EF4-FFF2-40B4-BE49-F238E27FC236}">
                <a16:creationId xmlns:a16="http://schemas.microsoft.com/office/drawing/2014/main" id="{B414EAD1-5CAB-421B-B5BB-2FAE33EA58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83925FF-73DD-4112-9C15-8EAFF2E8C9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6D71AD-4225-439B-B0AF-FF523CEDEDCF}" type="slidenum">
              <a:rPr lang="en-US" smtClean="0"/>
              <a:t>‹#›</a:t>
            </a:fld>
            <a:endParaRPr lang="en-US" dirty="0"/>
          </a:p>
        </p:txBody>
      </p:sp>
    </p:spTree>
    <p:extLst>
      <p:ext uri="{BB962C8B-B14F-4D97-AF65-F5344CB8AC3E}">
        <p14:creationId xmlns:p14="http://schemas.microsoft.com/office/powerpoint/2010/main" val="190603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778D-F34E-4BE4-9B6B-598D2E739C81}" type="datetimeFigureOut">
              <a:rPr lang="en-US" smtClean="0"/>
              <a:t>11/20/2025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53C36-AE66-42A1-BA56-51FF7F8C862C}" type="slidenum">
              <a:rPr lang="en-US" smtClean="0"/>
              <a:t>‹#›</a:t>
            </a:fld>
            <a:endParaRPr lang="en-US" dirty="0"/>
          </a:p>
        </p:txBody>
      </p:sp>
    </p:spTree>
    <p:extLst>
      <p:ext uri="{BB962C8B-B14F-4D97-AF65-F5344CB8AC3E}">
        <p14:creationId xmlns:p14="http://schemas.microsoft.com/office/powerpoint/2010/main" val="19463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ZA"/>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ZA"/>
          </a:p>
        </p:txBody>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r>
              <a:rPr lang="en-US" dirty="0"/>
              <a:t>20XX</a:t>
            </a:r>
          </a:p>
        </p:txBody>
      </p:sp>
    </p:spTree>
    <p:extLst>
      <p:ext uri="{BB962C8B-B14F-4D97-AF65-F5344CB8AC3E}">
        <p14:creationId xmlns:p14="http://schemas.microsoft.com/office/powerpoint/2010/main" val="159346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userDrawn="1"/>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txBody>
          <a:bodyPr/>
          <a:lstStyle/>
          <a:p>
            <a:endParaRPr lang="en-ZA"/>
          </a:p>
        </p:txBody>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a:t>Click to edit Master title style</a:t>
            </a:r>
            <a:endParaRPr lang="en-US" dirty="0"/>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a:cs typeface="Calibri"/>
              </a:rPr>
              <a:t>Click to edit Master subtitle style</a:t>
            </a:r>
            <a:endParaRPr lang="en-US" dirty="0">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r>
              <a:rPr lang="en-US"/>
              <a:t>Click icon to add picture</a:t>
            </a:r>
            <a:endParaRPr lang="en-US" dirty="0"/>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userDrawn="1"/>
        </p:nvSpPr>
        <p:spPr>
          <a:xfrm>
            <a:off x="806116" y="809244"/>
            <a:ext cx="5943600" cy="5239512"/>
          </a:xfrm>
          <a:prstGeom prst="rect">
            <a:avLst/>
          </a:prstGeom>
          <a:noFill/>
          <a:ln w="6350" cap="sq" cmpd="sng" algn="ctr">
            <a:solidFill>
              <a:schemeClr val="bg1"/>
            </a:solidFill>
            <a:prstDash val="solid"/>
            <a:miter lim="800000"/>
          </a:ln>
          <a:effectLst/>
        </p:spPr>
        <p:txBody>
          <a:bodyPr/>
          <a:lstStyle/>
          <a:p>
            <a:endParaRPr lang="en-ZA"/>
          </a:p>
        </p:txBody>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userDrawn="1"/>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2" name="Date Placeholder 17">
            <a:extLst>
              <a:ext uri="{FF2B5EF4-FFF2-40B4-BE49-F238E27FC236}">
                <a16:creationId xmlns:a16="http://schemas.microsoft.com/office/drawing/2014/main" id="{A7F1F606-F241-4665-957D-1EA108900290}"/>
              </a:ext>
            </a:extLst>
          </p:cNvPr>
          <p:cNvSpPr txBox="1">
            <a:spLocks/>
          </p:cNvSpPr>
          <p:nvPr userDrawn="1"/>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userDrawn="1"/>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dirty="0">
                <a:solidFill>
                  <a:schemeClr val="bg1"/>
                </a:solidFill>
              </a:rPr>
              <a:t>Sample 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67632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7420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userDrawn="1"/>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txBody>
          <a:bodyPr/>
          <a:lstStyle/>
          <a:p>
            <a:endParaRPr lang="en-ZA"/>
          </a:p>
        </p:txBody>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userDrawn="1"/>
        </p:nvSpPr>
        <p:spPr>
          <a:xfrm>
            <a:off x="806196" y="814657"/>
            <a:ext cx="10579608" cy="1664208"/>
          </a:xfrm>
          <a:prstGeom prst="rect">
            <a:avLst/>
          </a:prstGeom>
          <a:noFill/>
          <a:ln w="6350" cap="sq" cmpd="sng" algn="ctr">
            <a:solidFill>
              <a:schemeClr val="bg1"/>
            </a:solidFill>
            <a:prstDash val="solid"/>
            <a:miter lim="800000"/>
          </a:ln>
          <a:effectLst/>
        </p:spPr>
        <p:txBody>
          <a:bodyPr/>
          <a:lstStyle/>
          <a:p>
            <a:endParaRPr lang="en-ZA"/>
          </a:p>
        </p:txBody>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r>
              <a:rPr lang="en-US"/>
              <a:t>Click icon to add picture</a:t>
            </a:r>
            <a:endParaRPr lang="en-US" dirty="0"/>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r>
              <a:rPr lang="en-US"/>
              <a:t>Click icon to add picture</a:t>
            </a:r>
            <a:endParaRPr lang="en-US" dirty="0"/>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endParaRPr lang="en-US" dirty="0"/>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r>
              <a:rPr lang="en-US"/>
              <a:t>Click icon to add picture</a:t>
            </a:r>
            <a:endParaRPr lang="en-US" dirty="0"/>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userDrawn="1"/>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userDrawn="1"/>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userDrawn="1"/>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userDrawn="1"/>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userDrawn="1">
            <p:ph type="sldNum" sz="quarter" idx="12"/>
          </p:nvPr>
        </p:nvSpPr>
        <p:spPr>
          <a:xfrm>
            <a:off x="10537721" y="6286556"/>
            <a:ext cx="838200" cy="365760"/>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8375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userDrawn="1"/>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txBody>
          <a:bodyPr/>
          <a:lstStyle/>
          <a:p>
            <a:endParaRPr lang="en-ZA"/>
          </a:p>
        </p:txBody>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7DDF1FF2-5B9A-4BE9-AD3C-F215F0D25F7A}"/>
              </a:ext>
            </a:extLst>
          </p:cNvPr>
          <p:cNvSpPr/>
          <p:nvPr userDrawn="1"/>
        </p:nvSpPr>
        <p:spPr>
          <a:xfrm>
            <a:off x="5861010" y="1975104"/>
            <a:ext cx="5120640" cy="2907792"/>
          </a:xfrm>
          <a:prstGeom prst="rect">
            <a:avLst/>
          </a:prstGeom>
          <a:noFill/>
          <a:ln w="6350" cap="sq" cmpd="sng" algn="ctr">
            <a:solidFill>
              <a:schemeClr val="bg1"/>
            </a:solidFill>
            <a:prstDash val="solid"/>
            <a:miter lim="800000"/>
          </a:ln>
          <a:effectLst>
            <a:softEdge rad="0"/>
          </a:effectLst>
        </p:spPr>
        <p:txBody>
          <a:bodyPr/>
          <a:lstStyle/>
          <a:p>
            <a:endParaRPr lang="en-ZA"/>
          </a:p>
        </p:txBody>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a:solidFill>
                  <a:schemeClr val="tx1"/>
                </a:solidFill>
              </a:rPr>
              <a:t>Click to edit Master subtitle style</a:t>
            </a:r>
            <a:endParaRPr lang="en-US" dirty="0">
              <a:solidFill>
                <a:schemeClr val="tx1"/>
              </a:solidFill>
            </a:endParaRPr>
          </a:p>
        </p:txBody>
      </p:sp>
      <p:sp>
        <p:nvSpPr>
          <p:cNvPr id="10" name="Date Placeholder 17">
            <a:extLst>
              <a:ext uri="{FF2B5EF4-FFF2-40B4-BE49-F238E27FC236}">
                <a16:creationId xmlns:a16="http://schemas.microsoft.com/office/drawing/2014/main" id="{ABF19E1F-D7E9-4D44-9873-8D8DDC338F7E}"/>
              </a:ext>
            </a:extLst>
          </p:cNvPr>
          <p:cNvSpPr txBox="1">
            <a:spLocks/>
          </p:cNvSpPr>
          <p:nvPr userDrawn="1"/>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26465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userDrawn="1"/>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userDrawn="1"/>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userDrawn="1"/>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userDrawn="1"/>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userDrawn="1"/>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txBody>
          <a:bodyPr/>
          <a:lstStyle/>
          <a:p>
            <a:endParaRPr lang="en-ZA"/>
          </a:p>
        </p:txBody>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userDrawn="1"/>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txBody>
          <a:bodyPr/>
          <a:lstStyle/>
          <a:p>
            <a:endParaRPr lang="en-ZA"/>
          </a:p>
        </p:txBody>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a:t>Click to edit Master title style</a:t>
            </a:r>
            <a:endParaRPr lang="en-US" dirty="0"/>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r>
              <a:rPr lang="en-US" sz="1800">
                <a:solidFill>
                  <a:schemeClr val="bg1">
                    <a:lumMod val="85000"/>
                    <a:lumOff val="15000"/>
                  </a:schemeClr>
                </a:solidFill>
              </a:rPr>
              <a:t>Click to edit Master subtitle style</a:t>
            </a:r>
            <a:endParaRPr lang="en-US" sz="1800" dirty="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userDrawn="1"/>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r>
              <a:rPr lang="en-US"/>
              <a:t>Click icon to add picture</a:t>
            </a:r>
            <a:endParaRPr lang="en-US" dirty="0"/>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r>
              <a:rPr lang="en-US"/>
              <a:t>Click icon to add picture</a:t>
            </a:r>
            <a:endParaRPr lang="en-US" dirty="0"/>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r>
              <a:rPr lang="en-US"/>
              <a:t>Click icon to add picture</a:t>
            </a:r>
            <a:endParaRPr lang="en-US" dirty="0"/>
          </a:p>
        </p:txBody>
      </p:sp>
      <p:sp>
        <p:nvSpPr>
          <p:cNvPr id="19" name="Footer Placeholder 18">
            <a:extLst>
              <a:ext uri="{FF2B5EF4-FFF2-40B4-BE49-F238E27FC236}">
                <a16:creationId xmlns:a16="http://schemas.microsoft.com/office/drawing/2014/main" id="{4C182815-90D1-446C-BC70-6AB00BED68ED}"/>
              </a:ext>
            </a:extLst>
          </p:cNvPr>
          <p:cNvSpPr txBox="1">
            <a:spLocks/>
          </p:cNvSpPr>
          <p:nvPr userDrawn="1"/>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dirty="0">
                <a:solidFill>
                  <a:srgbClr val="FFFFFF"/>
                </a:solidFill>
              </a:rPr>
              <a:t>Sample 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userDrawn="1"/>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0220169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userDrawn="1"/>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3B9F23A9-0519-4A39-A9F9-F965C17D58A0}"/>
              </a:ext>
            </a:extLst>
          </p:cNvPr>
          <p:cNvSpPr/>
          <p:nvPr userDrawn="1"/>
        </p:nvSpPr>
        <p:spPr>
          <a:xfrm>
            <a:off x="5981848" y="320040"/>
            <a:ext cx="5888736" cy="6217920"/>
          </a:xfrm>
          <a:prstGeom prst="rect">
            <a:avLst/>
          </a:prstGeom>
          <a:noFill/>
          <a:ln w="6350" cap="sq" cmpd="sng" algn="ctr">
            <a:solidFill>
              <a:schemeClr val="bg1"/>
            </a:solidFill>
            <a:prstDash val="solid"/>
            <a:miter lim="800000"/>
          </a:ln>
          <a:effectLst>
            <a:softEdge rad="0"/>
          </a:effectLst>
        </p:spPr>
        <p:txBody>
          <a:bodyPr/>
          <a:lstStyle/>
          <a:p>
            <a:endParaRPr lang="en-ZA"/>
          </a:p>
        </p:txBody>
      </p:sp>
      <p:sp>
        <p:nvSpPr>
          <p:cNvPr id="9" name="Date Placeholder 6">
            <a:extLst>
              <a:ext uri="{FF2B5EF4-FFF2-40B4-BE49-F238E27FC236}">
                <a16:creationId xmlns:a16="http://schemas.microsoft.com/office/drawing/2014/main" id="{F3EB17D9-2389-4D1F-AC98-7CC3F79840B2}"/>
              </a:ext>
            </a:extLst>
          </p:cNvPr>
          <p:cNvSpPr txBox="1">
            <a:spLocks/>
          </p:cNvSpPr>
          <p:nvPr userDrawn="1"/>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userDrawn="1"/>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bg1"/>
                </a:solidFill>
              </a:rPr>
              <a:t>Sample 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userDrawn="1"/>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rPr>
              <a:pPr/>
              <a:t>‹#›</a:t>
            </a:fld>
            <a:endParaRPr lang="en-US" dirty="0">
              <a:solidFill>
                <a:schemeClr val="bg1"/>
              </a:solidFill>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r>
              <a:rPr lang="en-US"/>
              <a:t>Click icon to add picture</a:t>
            </a:r>
            <a:endParaRPr lang="en-US" dirty="0"/>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121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userDrawn="1"/>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ZA"/>
          </a:p>
        </p:txBody>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userDrawn="1"/>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txBody>
          <a:bodyPr/>
          <a:lstStyle/>
          <a:p>
            <a:endParaRPr lang="en-ZA"/>
          </a:p>
        </p:txBody>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a:t>Click to edit Master title style</a:t>
            </a:r>
            <a:endParaRPr lang="en-US" dirty="0"/>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userDrawn="1"/>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pPr algn="ctr" defTabSz="914400">
              <a:defRPr/>
            </a:pPr>
            <a:r>
              <a:rPr lang="en-US" sz="1300" dirty="0"/>
              <a:t>20XX</a:t>
            </a:r>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mn-lt"/>
                <a:ea typeface="+mn-ea"/>
                <a:cs typeface="+mn-cs"/>
              </a:defRPr>
            </a:lvl1pPr>
            <a:lvl2pPr marL="274320" indent="0">
              <a:buNone/>
              <a:defRPr/>
            </a:lvl2pPr>
          </a:lstStyle>
          <a:p>
            <a:pPr lvl="0"/>
            <a:r>
              <a:rPr lang="en-US"/>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dirty="0">
                <a:solidFill>
                  <a:schemeClr val="bg1"/>
                </a:solidFill>
              </a:rPr>
              <a:t>Sample 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r>
              <a:rPr lang="en-US"/>
              <a:t>Click icon to add picture</a:t>
            </a:r>
            <a:endParaRPr lang="en-US" dirty="0"/>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r>
              <a:rPr lang="en-US"/>
              <a:t>Click icon to add picture</a:t>
            </a:r>
            <a:endParaRPr lang="en-US" dirty="0"/>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userDrawn="1"/>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16126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US" dirty="0"/>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userDrawn="1"/>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txBody>
          <a:bodyPr/>
          <a:lstStyle/>
          <a:p>
            <a:endParaRPr lang="en-ZA"/>
          </a:p>
        </p:txBody>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userDrawn="1"/>
        </p:nvSpPr>
        <p:spPr>
          <a:xfrm>
            <a:off x="1103272" y="1106424"/>
            <a:ext cx="5120640" cy="4645152"/>
          </a:xfrm>
          <a:prstGeom prst="rect">
            <a:avLst/>
          </a:prstGeom>
          <a:noFill/>
          <a:ln w="6350" cap="sq" cmpd="sng" algn="ctr">
            <a:solidFill>
              <a:schemeClr val="bg1"/>
            </a:solidFill>
            <a:prstDash val="solid"/>
            <a:miter lim="800000"/>
          </a:ln>
          <a:effectLst>
            <a:softEdge rad="0"/>
          </a:effectLst>
        </p:spPr>
        <p:txBody>
          <a:bodyPr/>
          <a:lstStyle/>
          <a:p>
            <a:endParaRPr lang="en-ZA"/>
          </a:p>
        </p:txBody>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a:t>Click to edit Master title style</a:t>
            </a:r>
            <a:endParaRPr lang="en-US" dirty="0"/>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pPr algn="ctr"/>
            <a:r>
              <a:rPr lang="en-US" dirty="0"/>
              <a:t>20XX</a:t>
            </a:r>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a:t>Click to edit Master text styles</a:t>
            </a:r>
          </a:p>
          <a:p>
            <a:pPr lvl="1"/>
            <a:r>
              <a:rPr lang="en-US"/>
              <a:t>Second level</a:t>
            </a:r>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r>
              <a:rPr lang="en-US" dirty="0"/>
              <a:t>Sample Footer Text</a:t>
            </a:r>
          </a:p>
        </p:txBody>
      </p:sp>
    </p:spTree>
    <p:extLst>
      <p:ext uri="{BB962C8B-B14F-4D97-AF65-F5344CB8AC3E}">
        <p14:creationId xmlns:p14="http://schemas.microsoft.com/office/powerpoint/2010/main" val="384894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r>
              <a:rPr lang="en-US" dirty="0"/>
              <a:t>20XX</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69890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05649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72762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r>
              <a:rPr lang="en-US" dirty="0"/>
              <a:t>20XX</a:t>
            </a: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83843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dirty="0"/>
              <a:t>20XX</a:t>
            </a: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921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r>
              <a:rPr lang="en-US" dirty="0"/>
              <a:t>20XX</a:t>
            </a:r>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641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r>
              <a:rPr lang="en-US" dirty="0"/>
              <a:t>20XX</a:t>
            </a:r>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294A09A9-5501-47C1-A89A-A340965A2BE2}"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32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0616FFC6-B6FD-417B-BDE1-C6395267D6DB}" type="datetimeFigureOut">
              <a:rPr lang="en-US" smtClean="0"/>
              <a:t>11/20/2025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441091781"/>
      </p:ext>
    </p:extLst>
  </p:cSld>
  <p:clrMap bg1="lt1" tx1="dk1" bg2="lt2" tx2="dk2" accent1="accent1" accent2="accent2" accent3="accent3" accent4="accent4" accent5="accent5" accent6="accent6" hlink="hlink" folHlink="folHlink"/>
  <p:sldLayoutIdLst>
    <p:sldLayoutId id="2147483659" r:id="rId1"/>
    <p:sldLayoutId id="2147483671" r:id="rId2"/>
    <p:sldLayoutId id="2147483660" r:id="rId3"/>
    <p:sldLayoutId id="2147483676" r:id="rId4"/>
    <p:sldLayoutId id="2147483673" r:id="rId5"/>
    <p:sldLayoutId id="2147483677" r:id="rId6"/>
    <p:sldLayoutId id="2147483672" r:id="rId7"/>
    <p:sldLayoutId id="2147483675" r:id="rId8"/>
    <p:sldLayoutId id="2147483678" r:id="rId9"/>
    <p:sldLayoutId id="2147483662" r:id="rId10"/>
    <p:sldLayoutId id="2147483663" r:id="rId11"/>
    <p:sldLayoutId id="2147483670" r:id="rId12"/>
    <p:sldLayoutId id="2147483664" r:id="rId13"/>
    <p:sldLayoutId id="2147483665" r:id="rId14"/>
    <p:sldLayoutId id="2147483666" r:id="rId15"/>
    <p:sldLayoutId id="2147483667" r:id="rId16"/>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alpha val="6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45BD8A-B13F-463A-9101-4FB883F06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003B42-F17E-473C-9366-9369C04711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457200"/>
            <a:ext cx="11281609"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txBody>
          <a:bodyPr/>
          <a:lstStyle/>
          <a:p>
            <a:endParaRPr lang="en-ZA"/>
          </a:p>
        </p:txBody>
      </p:sp>
      <p:sp>
        <p:nvSpPr>
          <p:cNvPr id="12" name="Rectangle 11">
            <a:extLst>
              <a:ext uri="{FF2B5EF4-FFF2-40B4-BE49-F238E27FC236}">
                <a16:creationId xmlns:a16="http://schemas.microsoft.com/office/drawing/2014/main" id="{149DDF01-2EFB-49D0-864E-0CE29F33A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621793"/>
            <a:ext cx="10954512" cy="561441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209040" y="1754659"/>
            <a:ext cx="9860547" cy="3005463"/>
          </a:xfrm>
        </p:spPr>
        <p:txBody>
          <a:bodyPr>
            <a:normAutofit/>
          </a:bodyPr>
          <a:lstStyle/>
          <a:p>
            <a:r>
              <a:rPr lang="en-US">
                <a:solidFill>
                  <a:schemeClr val="bg1"/>
                </a:solidFill>
              </a:rPr>
              <a:t>Contract Monthly Claim System</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1209039" y="4947920"/>
            <a:ext cx="9860547" cy="685116"/>
          </a:xfrm>
        </p:spPr>
        <p:txBody>
          <a:bodyPr>
            <a:normAutofit/>
          </a:bodyPr>
          <a:lstStyle/>
          <a:p>
            <a:pPr>
              <a:spcAft>
                <a:spcPts val="600"/>
              </a:spcAft>
            </a:pPr>
            <a:r>
              <a:rPr lang="en-US">
                <a:solidFill>
                  <a:schemeClr val="bg1"/>
                </a:solidFill>
              </a:rPr>
              <a:t>PROG6212</a:t>
            </a:r>
          </a:p>
        </p:txBody>
      </p:sp>
      <p:sp>
        <p:nvSpPr>
          <p:cNvPr id="14" name="Rectangle 13">
            <a:extLst>
              <a:ext uri="{FF2B5EF4-FFF2-40B4-BE49-F238E27FC236}">
                <a16:creationId xmlns:a16="http://schemas.microsoft.com/office/drawing/2014/main" id="{8EEA5BB7-5B71-4B52-AD7F-3BA82A617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16" name="Straight Connector 15">
            <a:extLst>
              <a:ext uri="{FF2B5EF4-FFF2-40B4-BE49-F238E27FC236}">
                <a16:creationId xmlns:a16="http://schemas.microsoft.com/office/drawing/2014/main" id="{2A1BDD5A-B952-463D-8BF6-F89EC6F21C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455369"/>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2C2EF86-4721-4AC5-AC3A-5343FE12BA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455369"/>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42A6C7C-49DA-4D7E-9647-1696C74DF8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100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FC54-A66D-E6E6-5085-A1EC0ED1A71A}"/>
              </a:ext>
            </a:extLst>
          </p:cNvPr>
          <p:cNvSpPr>
            <a:spLocks noGrp="1"/>
          </p:cNvSpPr>
          <p:nvPr>
            <p:ph type="ctrTitle"/>
          </p:nvPr>
        </p:nvSpPr>
        <p:spPr/>
        <p:txBody>
          <a:bodyPr>
            <a:normAutofit/>
          </a:bodyPr>
          <a:lstStyle/>
          <a:p>
            <a:r>
              <a:rPr lang="en-ZA" sz="3200" dirty="0"/>
              <a:t>Name: Mamaphale Tema</a:t>
            </a:r>
            <a:br>
              <a:rPr lang="en-ZA" sz="3200" dirty="0"/>
            </a:br>
            <a:r>
              <a:rPr lang="en-ZA" sz="3200" dirty="0"/>
              <a:t>Student Number: ST10443515</a:t>
            </a:r>
            <a:br>
              <a:rPr lang="en-ZA" sz="3200" dirty="0"/>
            </a:br>
            <a:r>
              <a:rPr lang="en-ZA" sz="3200" dirty="0"/>
              <a:t>Group Number: 02</a:t>
            </a:r>
          </a:p>
        </p:txBody>
      </p:sp>
    </p:spTree>
    <p:extLst>
      <p:ext uri="{BB962C8B-B14F-4D97-AF65-F5344CB8AC3E}">
        <p14:creationId xmlns:p14="http://schemas.microsoft.com/office/powerpoint/2010/main" val="156224532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survey&#10;&#10;AI-generated content may be incorrect.">
            <a:extLst>
              <a:ext uri="{FF2B5EF4-FFF2-40B4-BE49-F238E27FC236}">
                <a16:creationId xmlns:a16="http://schemas.microsoft.com/office/drawing/2014/main" id="{637C4A5F-68B3-DDF8-3344-52D2CDDE39A5}"/>
              </a:ext>
            </a:extLst>
          </p:cNvPr>
          <p:cNvPicPr>
            <a:picLocks noChangeAspect="1"/>
          </p:cNvPicPr>
          <p:nvPr/>
        </p:nvPicPr>
        <p:blipFill>
          <a:blip r:embed="rId2"/>
          <a:stretch>
            <a:fillRect/>
          </a:stretch>
        </p:blipFill>
        <p:spPr>
          <a:xfrm>
            <a:off x="6096000" y="457200"/>
            <a:ext cx="4060371" cy="3541456"/>
          </a:xfrm>
          <a:prstGeom prst="rect">
            <a:avLst/>
          </a:prstGeom>
        </p:spPr>
      </p:pic>
      <p:sp>
        <p:nvSpPr>
          <p:cNvPr id="17" name="TextBox 16">
            <a:extLst>
              <a:ext uri="{FF2B5EF4-FFF2-40B4-BE49-F238E27FC236}">
                <a16:creationId xmlns:a16="http://schemas.microsoft.com/office/drawing/2014/main" id="{13868EDD-DE7B-FFA1-6E18-87703733F30B}"/>
              </a:ext>
            </a:extLst>
          </p:cNvPr>
          <p:cNvSpPr txBox="1"/>
          <p:nvPr/>
        </p:nvSpPr>
        <p:spPr>
          <a:xfrm>
            <a:off x="532050" y="367997"/>
            <a:ext cx="3056157" cy="1569660"/>
          </a:xfrm>
          <a:prstGeom prst="rect">
            <a:avLst/>
          </a:prstGeom>
          <a:noFill/>
        </p:spPr>
        <p:txBody>
          <a:bodyPr wrap="square">
            <a:spAutoFit/>
          </a:bodyPr>
          <a:lstStyle/>
          <a:p>
            <a:r>
              <a:rPr lang="en-US" sz="3200" b="1"/>
              <a:t>Feedback from Formative 2 (Part 2)</a:t>
            </a:r>
            <a:endParaRPr lang="en-ZA" sz="2000" b="1" dirty="0"/>
          </a:p>
        </p:txBody>
      </p:sp>
      <p:sp>
        <p:nvSpPr>
          <p:cNvPr id="22" name="TextBox 21">
            <a:extLst>
              <a:ext uri="{FF2B5EF4-FFF2-40B4-BE49-F238E27FC236}">
                <a16:creationId xmlns:a16="http://schemas.microsoft.com/office/drawing/2014/main" id="{E3A4ADEE-0E50-AB36-A1A1-1EDD18495459}"/>
              </a:ext>
            </a:extLst>
          </p:cNvPr>
          <p:cNvSpPr txBox="1"/>
          <p:nvPr/>
        </p:nvSpPr>
        <p:spPr>
          <a:xfrm>
            <a:off x="532050" y="2107677"/>
            <a:ext cx="4573350" cy="3046988"/>
          </a:xfrm>
          <a:prstGeom prst="rect">
            <a:avLst/>
          </a:prstGeom>
          <a:noFill/>
        </p:spPr>
        <p:txBody>
          <a:bodyPr wrap="square" rtlCol="0">
            <a:spAutoFit/>
          </a:bodyPr>
          <a:lstStyle/>
          <a:p>
            <a:r>
              <a:rPr lang="en-US" sz="1600" dirty="0"/>
              <a:t>• Achieved 100/100 — full marks across all sections.</a:t>
            </a:r>
            <a:br>
              <a:rPr lang="en-US" sz="1600" dirty="0"/>
            </a:br>
            <a:r>
              <a:rPr lang="en-US" sz="1600" dirty="0"/>
              <a:t>• Marker highlighted strong UI layout, clean navigation and visual consistency.</a:t>
            </a:r>
            <a:br>
              <a:rPr lang="en-US" sz="1600" dirty="0"/>
            </a:br>
            <a:r>
              <a:rPr lang="en-US" sz="1600" dirty="0"/>
              <a:t>• Excellent validation logic for claims, including duplicate prevention, file upload rules, and data integrity checks.</a:t>
            </a:r>
            <a:br>
              <a:rPr lang="en-US" sz="1600" dirty="0"/>
            </a:br>
            <a:r>
              <a:rPr lang="en-US" sz="1600" dirty="0"/>
              <a:t>• Status tracking and workflow navigation were implemented clearly.</a:t>
            </a:r>
            <a:br>
              <a:rPr lang="en-US" sz="1600" dirty="0"/>
            </a:br>
            <a:r>
              <a:rPr lang="en-US" sz="1600" dirty="0"/>
              <a:t>• Document upload and error handling were well-designed.</a:t>
            </a:r>
            <a:br>
              <a:rPr lang="en-US" sz="1600" dirty="0"/>
            </a:br>
            <a:r>
              <a:rPr lang="en-US" sz="1600" dirty="0"/>
              <a:t>• Git commit frequency and descriptive commit messages were praised.</a:t>
            </a:r>
            <a:endParaRPr lang="en-ZA" sz="1600" dirty="0"/>
          </a:p>
        </p:txBody>
      </p:sp>
      <p:sp>
        <p:nvSpPr>
          <p:cNvPr id="26" name="TextBox 25">
            <a:extLst>
              <a:ext uri="{FF2B5EF4-FFF2-40B4-BE49-F238E27FC236}">
                <a16:creationId xmlns:a16="http://schemas.microsoft.com/office/drawing/2014/main" id="{6B0FD01B-8306-32ED-2A22-0EFC4F6B216D}"/>
              </a:ext>
            </a:extLst>
          </p:cNvPr>
          <p:cNvSpPr txBox="1"/>
          <p:nvPr/>
        </p:nvSpPr>
        <p:spPr>
          <a:xfrm>
            <a:off x="4789714" y="4092476"/>
            <a:ext cx="6096000" cy="2308324"/>
          </a:xfrm>
          <a:prstGeom prst="rect">
            <a:avLst/>
          </a:prstGeom>
          <a:noFill/>
        </p:spPr>
        <p:txBody>
          <a:bodyPr wrap="square">
            <a:spAutoFit/>
          </a:bodyPr>
          <a:lstStyle/>
          <a:p>
            <a:r>
              <a:rPr lang="en-US" sz="1600" b="1" dirty="0"/>
              <a:t>Areas to strengthen for Part 3:</a:t>
            </a:r>
            <a:br>
              <a:rPr lang="en-US" sz="1600" dirty="0"/>
            </a:br>
            <a:r>
              <a:rPr lang="en-US" sz="1600" dirty="0"/>
              <a:t>• Add a fully functional HR role with its own dashboard and access rights.</a:t>
            </a:r>
            <a:br>
              <a:rPr lang="en-US" sz="1600" dirty="0"/>
            </a:br>
            <a:r>
              <a:rPr lang="en-US" sz="1600" dirty="0"/>
              <a:t>• Implement lecturer profile management (rate, department, contact details).</a:t>
            </a:r>
            <a:br>
              <a:rPr lang="en-US" sz="1600" dirty="0"/>
            </a:br>
            <a:r>
              <a:rPr lang="en-US" sz="1600" dirty="0"/>
              <a:t>• Ensure the full workflow flow is correct (IC → PC → AM → HR).</a:t>
            </a:r>
            <a:br>
              <a:rPr lang="en-US" sz="1600" dirty="0"/>
            </a:br>
            <a:r>
              <a:rPr lang="en-US" sz="1600" dirty="0"/>
              <a:t>• Include monthly summaries, totals, and invoice-style reporting.</a:t>
            </a:r>
            <a:br>
              <a:rPr lang="en-US" sz="1600" dirty="0"/>
            </a:br>
            <a:r>
              <a:rPr lang="en-US" sz="1600" dirty="0"/>
              <a:t>• Improve presentation of code and UI to clearly show logic.</a:t>
            </a:r>
            <a:br>
              <a:rPr lang="en-US" sz="1600" dirty="0"/>
            </a:br>
            <a:r>
              <a:rPr lang="en-US" sz="1600" dirty="0"/>
              <a:t>• Provide demo credentials for each role so markers can test quickly.</a:t>
            </a:r>
            <a:br>
              <a:rPr lang="en-US" sz="1600" dirty="0"/>
            </a:br>
            <a:r>
              <a:rPr lang="en-US" sz="1600" dirty="0"/>
              <a:t>• Strengthen explanation of automation, validations, and design decisions.</a:t>
            </a:r>
            <a:endParaRPr lang="en-ZA" sz="1600" dirty="0"/>
          </a:p>
        </p:txBody>
      </p:sp>
    </p:spTree>
    <p:extLst>
      <p:ext uri="{BB962C8B-B14F-4D97-AF65-F5344CB8AC3E}">
        <p14:creationId xmlns:p14="http://schemas.microsoft.com/office/powerpoint/2010/main" val="27476309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E9F63D-FD02-2B1F-9A03-BB965FDE0BFD}"/>
              </a:ext>
            </a:extLst>
          </p:cNvPr>
          <p:cNvSpPr txBox="1"/>
          <p:nvPr/>
        </p:nvSpPr>
        <p:spPr>
          <a:xfrm>
            <a:off x="500743" y="729344"/>
            <a:ext cx="4474028" cy="2308324"/>
          </a:xfrm>
          <a:prstGeom prst="rect">
            <a:avLst/>
          </a:prstGeom>
          <a:noFill/>
        </p:spPr>
        <p:txBody>
          <a:bodyPr wrap="square" rtlCol="0">
            <a:spAutoFit/>
          </a:bodyPr>
          <a:lstStyle/>
          <a:p>
            <a:r>
              <a:rPr lang="en-US" b="1"/>
              <a:t>What the System Is:</a:t>
            </a:r>
            <a:br>
              <a:rPr lang="en-US"/>
            </a:br>
            <a:r>
              <a:rPr lang="en-US"/>
              <a:t>A web-based platform used by tertiary institutions to manage monthly timesheet claims submitted by Independent Contractors (Lecturers). The system automates the full claim lifecycle, from submission to approval, reducing manual workload and ensuring clear accountability across roles.</a:t>
            </a:r>
            <a:endParaRPr lang="en-ZA" dirty="0"/>
          </a:p>
        </p:txBody>
      </p:sp>
      <p:sp>
        <p:nvSpPr>
          <p:cNvPr id="6" name="TextBox 5">
            <a:extLst>
              <a:ext uri="{FF2B5EF4-FFF2-40B4-BE49-F238E27FC236}">
                <a16:creationId xmlns:a16="http://schemas.microsoft.com/office/drawing/2014/main" id="{6B0D7C2A-E55B-EEDC-E8DD-1AB1C0A347C0}"/>
              </a:ext>
            </a:extLst>
          </p:cNvPr>
          <p:cNvSpPr txBox="1"/>
          <p:nvPr/>
        </p:nvSpPr>
        <p:spPr>
          <a:xfrm>
            <a:off x="4539346" y="3189512"/>
            <a:ext cx="4027714" cy="3139321"/>
          </a:xfrm>
          <a:prstGeom prst="rect">
            <a:avLst/>
          </a:prstGeom>
          <a:noFill/>
        </p:spPr>
        <p:txBody>
          <a:bodyPr wrap="square" rtlCol="0">
            <a:spAutoFit/>
          </a:bodyPr>
          <a:lstStyle/>
          <a:p>
            <a:r>
              <a:rPr lang="en-US" b="1" dirty="0"/>
              <a:t>Who Uses the System:</a:t>
            </a:r>
            <a:br>
              <a:rPr lang="en-US" b="1" dirty="0"/>
            </a:br>
            <a:r>
              <a:rPr lang="en-US" b="1" dirty="0"/>
              <a:t>• </a:t>
            </a:r>
            <a:r>
              <a:rPr lang="en-US" dirty="0"/>
              <a:t>Lecturer / Independent Contractor → submits monthly claims, hours and supporting documents</a:t>
            </a:r>
            <a:br>
              <a:rPr lang="en-US" dirty="0"/>
            </a:br>
            <a:r>
              <a:rPr lang="en-US" dirty="0"/>
              <a:t>• </a:t>
            </a:r>
            <a:r>
              <a:rPr lang="en-US" dirty="0" err="1"/>
              <a:t>Programme</a:t>
            </a:r>
            <a:r>
              <a:rPr lang="en-US" dirty="0"/>
              <a:t> Coordinator → reviews Submitted claims</a:t>
            </a:r>
            <a:br>
              <a:rPr lang="en-US" dirty="0"/>
            </a:br>
            <a:r>
              <a:rPr lang="en-US" dirty="0"/>
              <a:t>• Academic Manager → final approver for Pending Review claims</a:t>
            </a:r>
            <a:br>
              <a:rPr lang="en-US" dirty="0"/>
            </a:br>
            <a:r>
              <a:rPr lang="en-US" dirty="0"/>
              <a:t>• HR (Super User) → manages lecturer profiles, sets hourly rates, and views monthly financial summaries</a:t>
            </a:r>
            <a:endParaRPr lang="en-ZA" dirty="0"/>
          </a:p>
        </p:txBody>
      </p:sp>
      <p:sp>
        <p:nvSpPr>
          <p:cNvPr id="7" name="TextBox 6">
            <a:extLst>
              <a:ext uri="{FF2B5EF4-FFF2-40B4-BE49-F238E27FC236}">
                <a16:creationId xmlns:a16="http://schemas.microsoft.com/office/drawing/2014/main" id="{3BC4C2E9-2A53-2074-8268-CECC917F3407}"/>
              </a:ext>
            </a:extLst>
          </p:cNvPr>
          <p:cNvSpPr txBox="1"/>
          <p:nvPr/>
        </p:nvSpPr>
        <p:spPr>
          <a:xfrm>
            <a:off x="500743" y="3189513"/>
            <a:ext cx="4474028" cy="3139321"/>
          </a:xfrm>
          <a:prstGeom prst="rect">
            <a:avLst/>
          </a:prstGeom>
          <a:noFill/>
        </p:spPr>
        <p:txBody>
          <a:bodyPr wrap="square" rtlCol="0">
            <a:spAutoFit/>
          </a:bodyPr>
          <a:lstStyle/>
          <a:p>
            <a:r>
              <a:rPr lang="en-US" b="1" dirty="0"/>
              <a:t>Purpose of the System: </a:t>
            </a:r>
            <a:br>
              <a:rPr lang="en-US" dirty="0"/>
            </a:br>
            <a:r>
              <a:rPr lang="en-US" dirty="0"/>
              <a:t>• Replaces spreadsheets, manual emails and inconsistent formats</a:t>
            </a:r>
            <a:br>
              <a:rPr lang="en-US" dirty="0"/>
            </a:br>
            <a:r>
              <a:rPr lang="en-US" dirty="0"/>
              <a:t>• Ensures data accuracy through built-in validation rules</a:t>
            </a:r>
            <a:br>
              <a:rPr lang="en-US" dirty="0"/>
            </a:br>
            <a:r>
              <a:rPr lang="en-US" dirty="0"/>
              <a:t>• Creates a transparent, auditable 4-stage workflow</a:t>
            </a:r>
            <a:br>
              <a:rPr lang="en-US" dirty="0"/>
            </a:br>
            <a:r>
              <a:rPr lang="en-US" dirty="0"/>
              <a:t>• Gives HR reliable month-end summaries without extra admin</a:t>
            </a:r>
            <a:br>
              <a:rPr lang="en-US" dirty="0"/>
            </a:br>
            <a:r>
              <a:rPr lang="en-US" dirty="0"/>
              <a:t>• Supports institutional accountability and reduces processing delays</a:t>
            </a:r>
            <a:endParaRPr lang="en-ZA" dirty="0"/>
          </a:p>
        </p:txBody>
      </p:sp>
      <p:sp>
        <p:nvSpPr>
          <p:cNvPr id="8" name="TextBox 7">
            <a:extLst>
              <a:ext uri="{FF2B5EF4-FFF2-40B4-BE49-F238E27FC236}">
                <a16:creationId xmlns:a16="http://schemas.microsoft.com/office/drawing/2014/main" id="{7087658A-AE0E-40A0-7A3D-0DC7B8B40F8B}"/>
              </a:ext>
            </a:extLst>
          </p:cNvPr>
          <p:cNvSpPr txBox="1"/>
          <p:nvPr/>
        </p:nvSpPr>
        <p:spPr>
          <a:xfrm>
            <a:off x="3875314" y="436956"/>
            <a:ext cx="5562600" cy="584775"/>
          </a:xfrm>
          <a:prstGeom prst="rect">
            <a:avLst/>
          </a:prstGeom>
          <a:noFill/>
        </p:spPr>
        <p:txBody>
          <a:bodyPr wrap="square" rtlCol="0">
            <a:spAutoFit/>
          </a:bodyPr>
          <a:lstStyle/>
          <a:p>
            <a:r>
              <a:rPr lang="en-ZA" sz="3200" b="1"/>
              <a:t>Introduction the System </a:t>
            </a:r>
            <a:endParaRPr lang="en-ZA" sz="3200" b="1" dirty="0"/>
          </a:p>
        </p:txBody>
      </p:sp>
      <p:pic>
        <p:nvPicPr>
          <p:cNvPr id="9" name="Picture 8">
            <a:extLst>
              <a:ext uri="{FF2B5EF4-FFF2-40B4-BE49-F238E27FC236}">
                <a16:creationId xmlns:a16="http://schemas.microsoft.com/office/drawing/2014/main" id="{D3CAB871-460F-3E52-B4C4-18245029BF8C}"/>
              </a:ext>
            </a:extLst>
          </p:cNvPr>
          <p:cNvPicPr>
            <a:picLocks noChangeAspect="1"/>
          </p:cNvPicPr>
          <p:nvPr/>
        </p:nvPicPr>
        <p:blipFill>
          <a:blip r:embed="rId2"/>
          <a:stretch>
            <a:fillRect/>
          </a:stretch>
        </p:blipFill>
        <p:spPr>
          <a:xfrm>
            <a:off x="8294914" y="1021731"/>
            <a:ext cx="3396343" cy="26140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8468924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8DE9B99-ADEF-4DA4-A716-52D0A8BE5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61" name="Rectangle 60">
            <a:extLst>
              <a:ext uri="{FF2B5EF4-FFF2-40B4-BE49-F238E27FC236}">
                <a16:creationId xmlns:a16="http://schemas.microsoft.com/office/drawing/2014/main" id="{6E20860D-8992-496E-BC22-8450E344B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62" name="Rectangle 61">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63" name="Rectangle 62">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ZA"/>
          </a:p>
        </p:txBody>
      </p:sp>
      <p:sp>
        <p:nvSpPr>
          <p:cNvPr id="5" name="TextBox 4">
            <a:extLst>
              <a:ext uri="{FF2B5EF4-FFF2-40B4-BE49-F238E27FC236}">
                <a16:creationId xmlns:a16="http://schemas.microsoft.com/office/drawing/2014/main" id="{40183C9A-3F2B-A10A-7023-8AFC9F5B3698}"/>
              </a:ext>
            </a:extLst>
          </p:cNvPr>
          <p:cNvSpPr txBox="1"/>
          <p:nvPr/>
        </p:nvSpPr>
        <p:spPr>
          <a:xfrm>
            <a:off x="1175512" y="870132"/>
            <a:ext cx="9792208" cy="1527078"/>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b="1">
                <a:solidFill>
                  <a:schemeClr val="tx1">
                    <a:lumMod val="85000"/>
                    <a:lumOff val="15000"/>
                  </a:schemeClr>
                </a:solidFill>
                <a:latin typeface="+mj-lt"/>
              </a:rPr>
              <a:t>System Overview &amp; Architecture </a:t>
            </a:r>
          </a:p>
        </p:txBody>
      </p:sp>
      <p:sp>
        <p:nvSpPr>
          <p:cNvPr id="7" name="TextBox 6">
            <a:extLst>
              <a:ext uri="{FF2B5EF4-FFF2-40B4-BE49-F238E27FC236}">
                <a16:creationId xmlns:a16="http://schemas.microsoft.com/office/drawing/2014/main" id="{DCCB10B3-6448-C0C0-B27D-1F329716C09B}"/>
              </a:ext>
            </a:extLst>
          </p:cNvPr>
          <p:cNvSpPr txBox="1"/>
          <p:nvPr/>
        </p:nvSpPr>
        <p:spPr>
          <a:xfrm>
            <a:off x="983601" y="2623875"/>
            <a:ext cx="9792208" cy="3407862"/>
          </a:xfrm>
          <a:prstGeom prst="rect">
            <a:avLst/>
          </a:prstGeom>
        </p:spPr>
        <p:txBody>
          <a:bodyPr vert="horz" lIns="91440" tIns="45720" rIns="91440" bIns="45720" rtlCol="0">
            <a:normAutofit/>
          </a:bodyPr>
          <a:lstStyle/>
          <a:p>
            <a:pPr defTabSz="914400">
              <a:spcAft>
                <a:spcPts val="600"/>
              </a:spcAft>
              <a:buClr>
                <a:schemeClr val="tx1">
                  <a:lumMod val="85000"/>
                  <a:lumOff val="15000"/>
                </a:schemeClr>
              </a:buClr>
            </a:pPr>
            <a:r>
              <a:rPr lang="en-US" b="1" dirty="0"/>
              <a:t>Key Capabilities:</a:t>
            </a:r>
            <a:br>
              <a:rPr lang="en-US" dirty="0"/>
            </a:br>
            <a:r>
              <a:rPr lang="en-US" dirty="0"/>
              <a:t>• Digital claim submission form with validation</a:t>
            </a:r>
            <a:br>
              <a:rPr lang="en-US" dirty="0"/>
            </a:br>
            <a:r>
              <a:rPr lang="en-US" dirty="0"/>
              <a:t>• Document upload (PDF/DOCX/XLSX) with file-size and type checking</a:t>
            </a:r>
            <a:br>
              <a:rPr lang="en-US" dirty="0"/>
            </a:br>
            <a:r>
              <a:rPr lang="en-US" dirty="0"/>
              <a:t>• Automatic claim amount calculation</a:t>
            </a:r>
            <a:br>
              <a:rPr lang="en-US" dirty="0"/>
            </a:br>
            <a:r>
              <a:rPr lang="en-US" dirty="0"/>
              <a:t>• Multi-level approval chain</a:t>
            </a:r>
            <a:br>
              <a:rPr lang="en-US" dirty="0"/>
            </a:br>
            <a:r>
              <a:rPr lang="en-US" dirty="0"/>
              <a:t>• Role-based access using session-based simulation</a:t>
            </a:r>
            <a:br>
              <a:rPr lang="en-US" dirty="0"/>
            </a:br>
            <a:r>
              <a:rPr lang="en-US" dirty="0"/>
              <a:t>• HR summary reports with totals and invoice breakdowns</a:t>
            </a:r>
            <a:br>
              <a:rPr lang="en-US" dirty="0"/>
            </a:br>
            <a:r>
              <a:rPr lang="en-US" dirty="0"/>
              <a:t>• Secure lecturer-rate management</a:t>
            </a:r>
          </a:p>
        </p:txBody>
      </p:sp>
      <p:sp>
        <p:nvSpPr>
          <p:cNvPr id="8" name="TextBox 7">
            <a:extLst>
              <a:ext uri="{FF2B5EF4-FFF2-40B4-BE49-F238E27FC236}">
                <a16:creationId xmlns:a16="http://schemas.microsoft.com/office/drawing/2014/main" id="{5AE15B3E-49E4-D2AD-2F98-E3119CB34267}"/>
              </a:ext>
            </a:extLst>
          </p:cNvPr>
          <p:cNvSpPr txBox="1"/>
          <p:nvPr/>
        </p:nvSpPr>
        <p:spPr>
          <a:xfrm>
            <a:off x="6695117" y="4161051"/>
            <a:ext cx="4887686" cy="2031325"/>
          </a:xfrm>
          <a:prstGeom prst="rect">
            <a:avLst/>
          </a:prstGeom>
          <a:noFill/>
        </p:spPr>
        <p:txBody>
          <a:bodyPr wrap="square" rtlCol="0">
            <a:spAutoFit/>
          </a:bodyPr>
          <a:lstStyle/>
          <a:p>
            <a:pPr>
              <a:spcAft>
                <a:spcPts val="600"/>
              </a:spcAft>
            </a:pPr>
            <a:r>
              <a:rPr lang="en-ZA" b="1" dirty="0"/>
              <a:t>Technology Stack:</a:t>
            </a:r>
            <a:br>
              <a:rPr lang="en-ZA" dirty="0"/>
            </a:br>
            <a:r>
              <a:rPr lang="en-ZA" dirty="0"/>
              <a:t>• ASP.NET Core MVC</a:t>
            </a:r>
            <a:br>
              <a:rPr lang="en-ZA" dirty="0"/>
            </a:br>
            <a:r>
              <a:rPr lang="en-ZA" dirty="0"/>
              <a:t>• Entity Framework Core + SQL Server</a:t>
            </a:r>
            <a:br>
              <a:rPr lang="en-ZA" dirty="0"/>
            </a:br>
            <a:r>
              <a:rPr lang="en-ZA" dirty="0"/>
              <a:t>• Bootstrap 5 (UI styling)</a:t>
            </a:r>
            <a:br>
              <a:rPr lang="en-ZA" dirty="0"/>
            </a:br>
            <a:r>
              <a:rPr lang="en-ZA" dirty="0"/>
              <a:t>• Razor Views</a:t>
            </a:r>
            <a:br>
              <a:rPr lang="en-ZA" dirty="0"/>
            </a:br>
            <a:r>
              <a:rPr lang="en-ZA" dirty="0"/>
              <a:t>• Session state for role simulation</a:t>
            </a:r>
            <a:br>
              <a:rPr lang="en-ZA" dirty="0"/>
            </a:br>
            <a:r>
              <a:rPr lang="en-ZA" dirty="0"/>
              <a:t>• CSV export for reporting</a:t>
            </a:r>
          </a:p>
        </p:txBody>
      </p:sp>
    </p:spTree>
    <p:extLst>
      <p:ext uri="{BB962C8B-B14F-4D97-AF65-F5344CB8AC3E}">
        <p14:creationId xmlns:p14="http://schemas.microsoft.com/office/powerpoint/2010/main" val="257245135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4" name="Rectangle 13">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BC3966DF-3A44-D199-7561-F0F91E7E5F65}"/>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b="1" dirty="0">
                <a:solidFill>
                  <a:schemeClr val="tx1">
                    <a:lumMod val="85000"/>
                    <a:lumOff val="15000"/>
                  </a:schemeClr>
                </a:solidFill>
                <a:latin typeface="+mj-lt"/>
              </a:rPr>
              <a:t>Role Selection &amp; Demo Accounts </a:t>
            </a:r>
          </a:p>
        </p:txBody>
      </p:sp>
      <p:sp>
        <p:nvSpPr>
          <p:cNvPr id="16" name="Rectangle 15">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18" name="Rectangle 17">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3" name="Picture 2" descr="A screenshot of a computer&#10;&#10;AI-generated content may be incorrect.">
            <a:extLst>
              <a:ext uri="{FF2B5EF4-FFF2-40B4-BE49-F238E27FC236}">
                <a16:creationId xmlns:a16="http://schemas.microsoft.com/office/drawing/2014/main" id="{D3648A3E-3231-4225-8A11-6A33D517C36A}"/>
              </a:ext>
            </a:extLst>
          </p:cNvPr>
          <p:cNvPicPr>
            <a:picLocks noChangeAspect="1"/>
          </p:cNvPicPr>
          <p:nvPr/>
        </p:nvPicPr>
        <p:blipFill>
          <a:blip r:embed="rId2"/>
          <a:stretch>
            <a:fillRect/>
          </a:stretch>
        </p:blipFill>
        <p:spPr>
          <a:xfrm>
            <a:off x="1205256" y="1981318"/>
            <a:ext cx="4414438" cy="2913528"/>
          </a:xfrm>
          <a:prstGeom prst="rect">
            <a:avLst/>
          </a:prstGeom>
        </p:spPr>
      </p:pic>
      <p:sp>
        <p:nvSpPr>
          <p:cNvPr id="5" name="TextBox 4">
            <a:extLst>
              <a:ext uri="{FF2B5EF4-FFF2-40B4-BE49-F238E27FC236}">
                <a16:creationId xmlns:a16="http://schemas.microsoft.com/office/drawing/2014/main" id="{7A17EFA4-434C-F8DF-A81B-F85A4EB3B1CA}"/>
              </a:ext>
            </a:extLst>
          </p:cNvPr>
          <p:cNvSpPr txBox="1"/>
          <p:nvPr/>
        </p:nvSpPr>
        <p:spPr>
          <a:xfrm>
            <a:off x="6579450" y="2538919"/>
            <a:ext cx="4957554" cy="3496120"/>
          </a:xfrm>
          <a:prstGeom prst="rect">
            <a:avLst/>
          </a:prstGeom>
        </p:spPr>
        <p:txBody>
          <a:bodyPr vert="horz" lIns="91440" tIns="45720" rIns="91440" bIns="45720" rtlCol="0">
            <a:normAutofit lnSpcReduction="10000"/>
          </a:bodyPr>
          <a:lstStyle/>
          <a:p>
            <a:pPr defTabSz="914400">
              <a:lnSpc>
                <a:spcPct val="90000"/>
              </a:lnSpc>
              <a:spcAft>
                <a:spcPts val="600"/>
              </a:spcAft>
              <a:buClr>
                <a:schemeClr val="tx1">
                  <a:lumMod val="85000"/>
                  <a:lumOff val="15000"/>
                </a:schemeClr>
              </a:buClr>
            </a:pPr>
            <a:r>
              <a:rPr lang="en-US" dirty="0"/>
              <a:t>This screen simulates logging in by letting the marker choose a role.</a:t>
            </a:r>
            <a:br>
              <a:rPr lang="en-US" dirty="0"/>
            </a:br>
            <a:r>
              <a:rPr lang="en-US" dirty="0"/>
              <a:t>Each role sees only the pages aligned to its responsibilities.</a:t>
            </a:r>
          </a:p>
          <a:p>
            <a:pPr defTabSz="914400">
              <a:lnSpc>
                <a:spcPct val="90000"/>
              </a:lnSpc>
              <a:spcAft>
                <a:spcPts val="600"/>
              </a:spcAft>
              <a:buClr>
                <a:schemeClr val="tx1">
                  <a:lumMod val="85000"/>
                  <a:lumOff val="15000"/>
                </a:schemeClr>
              </a:buClr>
            </a:pPr>
            <a:endParaRPr lang="en-US" dirty="0"/>
          </a:p>
          <a:p>
            <a:pPr defTabSz="914400">
              <a:lnSpc>
                <a:spcPct val="90000"/>
              </a:lnSpc>
              <a:spcAft>
                <a:spcPts val="600"/>
              </a:spcAft>
              <a:buClr>
                <a:schemeClr val="tx1">
                  <a:lumMod val="85000"/>
                  <a:lumOff val="15000"/>
                </a:schemeClr>
              </a:buClr>
            </a:pPr>
            <a:r>
              <a:rPr lang="en-US" b="1" dirty="0"/>
              <a:t>This interface demonstrates:</a:t>
            </a:r>
            <a:br>
              <a:rPr lang="en-US" dirty="0"/>
            </a:br>
            <a:r>
              <a:rPr lang="en-US" dirty="0"/>
              <a:t>• Clear separation between Lecturer, </a:t>
            </a:r>
            <a:r>
              <a:rPr lang="en-US" dirty="0" err="1"/>
              <a:t>Programme</a:t>
            </a:r>
            <a:r>
              <a:rPr lang="en-US" dirty="0"/>
              <a:t> Coordinator, Academic Manager and HR</a:t>
            </a:r>
            <a:br>
              <a:rPr lang="en-US" dirty="0"/>
            </a:br>
            <a:r>
              <a:rPr lang="en-US" dirty="0"/>
              <a:t>• Each role’s responsibilities are summarized for quick understanding</a:t>
            </a:r>
            <a:br>
              <a:rPr lang="en-US" dirty="0"/>
            </a:br>
            <a:r>
              <a:rPr lang="en-US" dirty="0"/>
              <a:t>• The workflow (Lecturer → Coordinator → Manager → HR) is visible and easy to follow</a:t>
            </a:r>
            <a:br>
              <a:rPr lang="en-US" dirty="0"/>
            </a:br>
            <a:r>
              <a:rPr lang="en-US" dirty="0"/>
              <a:t>• Supports marking by showing example demo credentials for each role</a:t>
            </a:r>
          </a:p>
        </p:txBody>
      </p:sp>
    </p:spTree>
    <p:extLst>
      <p:ext uri="{BB962C8B-B14F-4D97-AF65-F5344CB8AC3E}">
        <p14:creationId xmlns:p14="http://schemas.microsoft.com/office/powerpoint/2010/main" val="248319187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5" name="Rectangle 14">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4" name="TextBox 3">
            <a:extLst>
              <a:ext uri="{FF2B5EF4-FFF2-40B4-BE49-F238E27FC236}">
                <a16:creationId xmlns:a16="http://schemas.microsoft.com/office/drawing/2014/main" id="{1D467E6B-1B1B-2A79-AC7C-D271B2A6D7D1}"/>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b="1" dirty="0">
                <a:solidFill>
                  <a:schemeClr val="tx1">
                    <a:lumMod val="85000"/>
                    <a:lumOff val="15000"/>
                  </a:schemeClr>
                </a:solidFill>
                <a:latin typeface="+mj-lt"/>
              </a:rPr>
              <a:t>Workflow Overview</a:t>
            </a:r>
          </a:p>
        </p:txBody>
      </p:sp>
      <p:sp>
        <p:nvSpPr>
          <p:cNvPr id="17" name="Rectangle 16">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19" name="Rectangle 18">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6" name="Picture 5" descr="A screenshot of a computer&#10;&#10;AI-generated content may be incorrect.">
            <a:extLst>
              <a:ext uri="{FF2B5EF4-FFF2-40B4-BE49-F238E27FC236}">
                <a16:creationId xmlns:a16="http://schemas.microsoft.com/office/drawing/2014/main" id="{CB57315F-7B4A-E476-7EC2-61167BDE1209}"/>
              </a:ext>
            </a:extLst>
          </p:cNvPr>
          <p:cNvPicPr>
            <a:picLocks noChangeAspect="1"/>
          </p:cNvPicPr>
          <p:nvPr/>
        </p:nvPicPr>
        <p:blipFill>
          <a:blip r:embed="rId2"/>
          <a:stretch>
            <a:fillRect/>
          </a:stretch>
        </p:blipFill>
        <p:spPr>
          <a:xfrm>
            <a:off x="1205256" y="2433798"/>
            <a:ext cx="4414438" cy="2008569"/>
          </a:xfrm>
          <a:prstGeom prst="rect">
            <a:avLst/>
          </a:prstGeom>
        </p:spPr>
      </p:pic>
      <p:sp>
        <p:nvSpPr>
          <p:cNvPr id="5" name="Rectangle 1">
            <a:extLst>
              <a:ext uri="{FF2B5EF4-FFF2-40B4-BE49-F238E27FC236}">
                <a16:creationId xmlns:a16="http://schemas.microsoft.com/office/drawing/2014/main" id="{F0B708D0-2232-53FF-8DA9-00311F586874}"/>
              </a:ext>
            </a:extLst>
          </p:cNvPr>
          <p:cNvSpPr>
            <a:spLocks noChangeArrowheads="1"/>
          </p:cNvSpPr>
          <p:nvPr/>
        </p:nvSpPr>
        <p:spPr bwMode="auto">
          <a:xfrm>
            <a:off x="6579450" y="2538919"/>
            <a:ext cx="4957554" cy="34961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defTabSz="914400" fontAlgn="base">
              <a:lnSpc>
                <a:spcPct val="90000"/>
              </a:lnSpc>
              <a:spcBef>
                <a:spcPct val="0"/>
              </a:spcBef>
              <a:spcAft>
                <a:spcPts val="600"/>
              </a:spcAft>
              <a:buClr>
                <a:schemeClr val="tx1">
                  <a:lumMod val="85000"/>
                  <a:lumOff val="15000"/>
                </a:schemeClr>
              </a:buClr>
              <a:buSzTx/>
              <a:tabLst/>
            </a:pPr>
            <a:r>
              <a:rPr lang="en-US" altLang="en-US" sz="1600" b="1" dirty="0"/>
              <a:t>Work</a:t>
            </a:r>
            <a:r>
              <a:rPr kumimoji="0" lang="en-US" altLang="en-US" sz="1600" b="1" i="0" u="none" strike="noStrike" cap="none" normalizeH="0" baseline="0" dirty="0">
                <a:ln>
                  <a:noFill/>
                </a:ln>
                <a:effectLst/>
              </a:rPr>
              <a:t>flow stages:</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1600" b="0" i="0" u="none" strike="noStrike" cap="none" normalizeH="0" baseline="0" dirty="0">
              <a:ln>
                <a:noFill/>
              </a:ln>
              <a:effectLst/>
            </a:endParaRP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600" b="0" i="0" u="none" strike="noStrike" cap="none" normalizeH="0" baseline="0" dirty="0">
                <a:ln>
                  <a:noFill/>
                </a:ln>
                <a:effectLst/>
              </a:rPr>
              <a:t>Lecturer submits a claim with hours, month, and supporting document.</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600" b="0" i="0" u="none" strike="noStrike" cap="none" normalizeH="0" baseline="0" dirty="0" err="1">
                <a:ln>
                  <a:noFill/>
                </a:ln>
                <a:effectLst/>
              </a:rPr>
              <a:t>Programme</a:t>
            </a:r>
            <a:r>
              <a:rPr kumimoji="0" lang="en-US" altLang="en-US" sz="1600" b="0" i="0" u="none" strike="noStrike" cap="none" normalizeH="0" baseline="0" dirty="0">
                <a:ln>
                  <a:noFill/>
                </a:ln>
                <a:effectLst/>
              </a:rPr>
              <a:t> Coordinator reviews new </a:t>
            </a:r>
            <a:r>
              <a:rPr kumimoji="0" lang="en-US" altLang="en-US" sz="1600" i="0" u="none" strike="noStrike" cap="none" normalizeH="0" baseline="0" dirty="0">
                <a:ln>
                  <a:noFill/>
                </a:ln>
                <a:effectLst/>
              </a:rPr>
              <a:t>Submitted</a:t>
            </a:r>
            <a:r>
              <a:rPr kumimoji="0" lang="en-US" altLang="en-US" sz="1600" b="0" i="0" u="none" strike="noStrike" cap="none" normalizeH="0" baseline="0" dirty="0">
                <a:ln>
                  <a:noFill/>
                </a:ln>
                <a:effectLst/>
              </a:rPr>
              <a:t> claims.</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600" b="0" i="0" u="none" strike="noStrike" cap="none" normalizeH="0" baseline="0" dirty="0">
                <a:ln>
                  <a:noFill/>
                </a:ln>
                <a:effectLst/>
              </a:rPr>
              <a:t>Academic Manager reviews </a:t>
            </a:r>
            <a:r>
              <a:rPr kumimoji="0" lang="en-US" altLang="en-US" sz="1600" i="0" u="none" strike="noStrike" cap="none" normalizeH="0" baseline="0" dirty="0">
                <a:ln>
                  <a:noFill/>
                </a:ln>
                <a:effectLst/>
              </a:rPr>
              <a:t>Pending Review </a:t>
            </a:r>
            <a:r>
              <a:rPr kumimoji="0" lang="en-US" altLang="en-US" sz="1600" b="0" i="0" u="none" strike="noStrike" cap="none" normalizeH="0" baseline="0" dirty="0">
                <a:ln>
                  <a:noFill/>
                </a:ln>
                <a:effectLst/>
              </a:rPr>
              <a:t>claims and makes a final decision.</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600" b="0" i="0" u="none" strike="noStrike" cap="none" normalizeH="0" baseline="0" dirty="0">
                <a:ln>
                  <a:noFill/>
                </a:ln>
                <a:effectLst/>
              </a:rPr>
              <a:t>HR cannot approve/reject but can view </a:t>
            </a:r>
            <a:r>
              <a:rPr kumimoji="0" lang="en-US" altLang="en-US" sz="1600" i="0" u="none" strike="noStrike" cap="none" normalizeH="0" baseline="0" dirty="0">
                <a:ln>
                  <a:noFill/>
                </a:ln>
                <a:effectLst/>
              </a:rPr>
              <a:t>Approved</a:t>
            </a:r>
            <a:r>
              <a:rPr kumimoji="0" lang="en-US" altLang="en-US" sz="1600" b="0" i="0" u="none" strike="noStrike" cap="none" normalizeH="0" baseline="0" dirty="0">
                <a:ln>
                  <a:noFill/>
                </a:ln>
                <a:effectLst/>
              </a:rPr>
              <a:t> claims for reporting.</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1600" b="0" i="0" u="none" strike="noStrike" cap="none" normalizeH="0" baseline="0" dirty="0">
              <a:ln>
                <a:noFill/>
              </a:ln>
              <a:effectLst/>
            </a:endParaRPr>
          </a:p>
          <a:p>
            <a:pPr marR="0" lvl="0" defTabSz="914400" fontAlgn="base">
              <a:lnSpc>
                <a:spcPct val="90000"/>
              </a:lnSpc>
              <a:spcBef>
                <a:spcPct val="0"/>
              </a:spcBef>
              <a:spcAft>
                <a:spcPts val="600"/>
              </a:spcAft>
              <a:buClr>
                <a:schemeClr val="tx1">
                  <a:lumMod val="85000"/>
                  <a:lumOff val="15000"/>
                </a:schemeClr>
              </a:buClr>
              <a:buSzTx/>
              <a:tabLst/>
            </a:pPr>
            <a:r>
              <a:rPr kumimoji="0" lang="en-US" altLang="en-US" sz="1600" b="0" i="0" u="none" strike="noStrike" cap="none" normalizeH="0" baseline="0" dirty="0">
                <a:ln>
                  <a:noFill/>
                </a:ln>
                <a:effectLst/>
              </a:rPr>
              <a:t>This prevents users from skipping approval levels and mirrors the expected institutional process.</a:t>
            </a:r>
          </a:p>
        </p:txBody>
      </p:sp>
    </p:spTree>
    <p:extLst>
      <p:ext uri="{BB962C8B-B14F-4D97-AF65-F5344CB8AC3E}">
        <p14:creationId xmlns:p14="http://schemas.microsoft.com/office/powerpoint/2010/main" val="188989707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4" name="Rectangle 13">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15BF3631-1BBF-C1A9-DB53-62D85EDD1627}"/>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b="1" dirty="0">
                <a:solidFill>
                  <a:schemeClr val="tx1">
                    <a:lumMod val="85000"/>
                    <a:lumOff val="15000"/>
                  </a:schemeClr>
                </a:solidFill>
                <a:latin typeface="+mj-lt"/>
              </a:rPr>
              <a:t>Access Control Enforcement </a:t>
            </a:r>
          </a:p>
        </p:txBody>
      </p:sp>
      <p:sp>
        <p:nvSpPr>
          <p:cNvPr id="16" name="Rectangle 15">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18" name="Rectangle 17">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3" name="Picture 2" descr="A screenshot of a computer&#10;&#10;AI-generated content may be incorrect.">
            <a:extLst>
              <a:ext uri="{FF2B5EF4-FFF2-40B4-BE49-F238E27FC236}">
                <a16:creationId xmlns:a16="http://schemas.microsoft.com/office/drawing/2014/main" id="{BDA07AD0-1331-0175-55DE-C93CCE6F9623}"/>
              </a:ext>
            </a:extLst>
          </p:cNvPr>
          <p:cNvPicPr>
            <a:picLocks noChangeAspect="1"/>
          </p:cNvPicPr>
          <p:nvPr/>
        </p:nvPicPr>
        <p:blipFill>
          <a:blip r:embed="rId2"/>
          <a:stretch>
            <a:fillRect/>
          </a:stretch>
        </p:blipFill>
        <p:spPr>
          <a:xfrm>
            <a:off x="1205256" y="2621411"/>
            <a:ext cx="4414438" cy="1633342"/>
          </a:xfrm>
          <a:prstGeom prst="rect">
            <a:avLst/>
          </a:prstGeom>
        </p:spPr>
      </p:pic>
      <p:sp>
        <p:nvSpPr>
          <p:cNvPr id="5" name="TextBox 4">
            <a:extLst>
              <a:ext uri="{FF2B5EF4-FFF2-40B4-BE49-F238E27FC236}">
                <a16:creationId xmlns:a16="http://schemas.microsoft.com/office/drawing/2014/main" id="{0BBD3630-0189-02D0-2912-0DB277DB938A}"/>
              </a:ext>
            </a:extLst>
          </p:cNvPr>
          <p:cNvSpPr txBox="1"/>
          <p:nvPr/>
        </p:nvSpPr>
        <p:spPr>
          <a:xfrm>
            <a:off x="6259773" y="2373547"/>
            <a:ext cx="5277231" cy="3661492"/>
          </a:xfrm>
          <a:prstGeom prst="rect">
            <a:avLst/>
          </a:prstGeom>
        </p:spPr>
        <p:txBody>
          <a:bodyPr vert="horz" lIns="91440" tIns="45720" rIns="91440" bIns="45720" rtlCol="0">
            <a:noAutofit/>
          </a:bodyPr>
          <a:lstStyle/>
          <a:p>
            <a:pPr defTabSz="914400">
              <a:lnSpc>
                <a:spcPct val="90000"/>
              </a:lnSpc>
              <a:spcAft>
                <a:spcPts val="600"/>
              </a:spcAft>
              <a:buClr>
                <a:schemeClr val="tx1">
                  <a:lumMod val="85000"/>
                  <a:lumOff val="15000"/>
                </a:schemeClr>
              </a:buClr>
            </a:pPr>
            <a:r>
              <a:rPr lang="en-US" dirty="0"/>
              <a:t>The system includes built-in access restrictions to ensure users cannot view screens outside their role.</a:t>
            </a:r>
          </a:p>
          <a:p>
            <a:pPr defTabSz="914400">
              <a:lnSpc>
                <a:spcPct val="90000"/>
              </a:lnSpc>
              <a:spcAft>
                <a:spcPts val="600"/>
              </a:spcAft>
              <a:buClr>
                <a:schemeClr val="tx1">
                  <a:lumMod val="85000"/>
                  <a:lumOff val="15000"/>
                </a:schemeClr>
              </a:buClr>
            </a:pPr>
            <a:endParaRPr lang="en-US" dirty="0"/>
          </a:p>
          <a:p>
            <a:pPr defTabSz="914400">
              <a:lnSpc>
                <a:spcPct val="90000"/>
              </a:lnSpc>
              <a:spcAft>
                <a:spcPts val="600"/>
              </a:spcAft>
              <a:buClr>
                <a:schemeClr val="tx1">
                  <a:lumMod val="85000"/>
                  <a:lumOff val="15000"/>
                </a:schemeClr>
              </a:buClr>
            </a:pPr>
            <a:r>
              <a:rPr lang="en-US" b="1" dirty="0"/>
              <a:t>This prevents:</a:t>
            </a:r>
            <a:br>
              <a:rPr lang="en-US" dirty="0"/>
            </a:br>
            <a:r>
              <a:rPr lang="en-US" dirty="0"/>
              <a:t>• Lecturers accessing Coordinator/Manager/HR pages</a:t>
            </a:r>
            <a:br>
              <a:rPr lang="en-US" dirty="0"/>
            </a:br>
            <a:r>
              <a:rPr lang="en-US" dirty="0"/>
              <a:t>• Coordinators skipping to HR summaries</a:t>
            </a:r>
            <a:br>
              <a:rPr lang="en-US" dirty="0"/>
            </a:br>
            <a:r>
              <a:rPr lang="en-US" dirty="0"/>
              <a:t>• Managers viewing Lecturer submissions directly</a:t>
            </a:r>
            <a:br>
              <a:rPr lang="en-US" dirty="0"/>
            </a:br>
            <a:r>
              <a:rPr lang="en-US" dirty="0"/>
              <a:t>• Any user bypassing the expected claim-processing flow</a:t>
            </a:r>
          </a:p>
          <a:p>
            <a:pPr defTabSz="914400">
              <a:lnSpc>
                <a:spcPct val="90000"/>
              </a:lnSpc>
              <a:spcAft>
                <a:spcPts val="600"/>
              </a:spcAft>
              <a:buClr>
                <a:schemeClr val="tx1">
                  <a:lumMod val="85000"/>
                  <a:lumOff val="15000"/>
                </a:schemeClr>
              </a:buClr>
            </a:pPr>
            <a:r>
              <a:rPr lang="en-US" b="1" dirty="0"/>
              <a:t>How it works:</a:t>
            </a:r>
            <a:br>
              <a:rPr lang="en-US" dirty="0"/>
            </a:br>
            <a:r>
              <a:rPr lang="en-US" dirty="0"/>
              <a:t>• Custom [</a:t>
            </a:r>
            <a:r>
              <a:rPr lang="en-US" dirty="0" err="1"/>
              <a:t>RoleRequired</a:t>
            </a:r>
            <a:r>
              <a:rPr lang="en-US" dirty="0"/>
              <a:t>] attribute checks the user’s stored role</a:t>
            </a:r>
            <a:br>
              <a:rPr lang="en-US" dirty="0"/>
            </a:br>
            <a:r>
              <a:rPr lang="en-US" dirty="0"/>
              <a:t>• Users are redirected with an “Access denied” message if permissions do not match</a:t>
            </a:r>
            <a:br>
              <a:rPr lang="en-US" dirty="0"/>
            </a:br>
            <a:r>
              <a:rPr lang="en-US" dirty="0"/>
              <a:t>• Supports institutional accountability and the POE requirement for role-based access</a:t>
            </a:r>
          </a:p>
        </p:txBody>
      </p:sp>
    </p:spTree>
    <p:extLst>
      <p:ext uri="{BB962C8B-B14F-4D97-AF65-F5344CB8AC3E}">
        <p14:creationId xmlns:p14="http://schemas.microsoft.com/office/powerpoint/2010/main" val="402894643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4" name="Rectangle 13">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8D038AAE-E68E-7581-8986-7A27C8BC020E}"/>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a:solidFill>
                  <a:schemeClr val="tx1">
                    <a:lumMod val="85000"/>
                    <a:lumOff val="15000"/>
                  </a:schemeClr>
                </a:solidFill>
                <a:latin typeface="+mj-lt"/>
              </a:rPr>
              <a:t>Lecturer Validation Example </a:t>
            </a:r>
          </a:p>
        </p:txBody>
      </p:sp>
      <p:sp>
        <p:nvSpPr>
          <p:cNvPr id="16" name="Rectangle 15">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18" name="Rectangle 17">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3" name="Picture 2">
            <a:extLst>
              <a:ext uri="{FF2B5EF4-FFF2-40B4-BE49-F238E27FC236}">
                <a16:creationId xmlns:a16="http://schemas.microsoft.com/office/drawing/2014/main" id="{20AE4EE5-5DD5-81FB-B5A8-A24FC1DFF7B6}"/>
              </a:ext>
            </a:extLst>
          </p:cNvPr>
          <p:cNvPicPr>
            <a:picLocks noChangeAspect="1"/>
          </p:cNvPicPr>
          <p:nvPr/>
        </p:nvPicPr>
        <p:blipFill>
          <a:blip r:embed="rId2"/>
          <a:stretch>
            <a:fillRect/>
          </a:stretch>
        </p:blipFill>
        <p:spPr>
          <a:xfrm>
            <a:off x="1205256" y="1909584"/>
            <a:ext cx="4414438" cy="3056997"/>
          </a:xfrm>
          <a:prstGeom prst="rect">
            <a:avLst/>
          </a:prstGeom>
        </p:spPr>
      </p:pic>
      <p:sp>
        <p:nvSpPr>
          <p:cNvPr id="5" name="TextBox 4">
            <a:extLst>
              <a:ext uri="{FF2B5EF4-FFF2-40B4-BE49-F238E27FC236}">
                <a16:creationId xmlns:a16="http://schemas.microsoft.com/office/drawing/2014/main" id="{02A2D267-C624-AF4A-C0EC-7862BA1CD099}"/>
              </a:ext>
            </a:extLst>
          </p:cNvPr>
          <p:cNvSpPr txBox="1"/>
          <p:nvPr/>
        </p:nvSpPr>
        <p:spPr>
          <a:xfrm>
            <a:off x="6579450" y="2538919"/>
            <a:ext cx="4957554" cy="3496120"/>
          </a:xfrm>
          <a:prstGeom prst="rect">
            <a:avLst/>
          </a:prstGeom>
        </p:spPr>
        <p:txBody>
          <a:bodyPr vert="horz" lIns="91440" tIns="45720" rIns="91440" bIns="45720" rtlCol="0">
            <a:normAutofit/>
          </a:bodyPr>
          <a:lstStyle/>
          <a:p>
            <a:pPr defTabSz="914400">
              <a:spcAft>
                <a:spcPts val="600"/>
              </a:spcAft>
              <a:buClr>
                <a:schemeClr val="tx1">
                  <a:lumMod val="85000"/>
                  <a:lumOff val="15000"/>
                </a:schemeClr>
              </a:buClr>
            </a:pPr>
            <a:r>
              <a:rPr lang="en-US" dirty="0"/>
              <a:t>This example shows how validation rules prevent incorrect or incomplete claims.</a:t>
            </a:r>
          </a:p>
          <a:p>
            <a:pPr defTabSz="914400">
              <a:spcAft>
                <a:spcPts val="600"/>
              </a:spcAft>
              <a:buClr>
                <a:schemeClr val="tx1">
                  <a:lumMod val="85000"/>
                  <a:lumOff val="15000"/>
                </a:schemeClr>
              </a:buClr>
            </a:pPr>
            <a:r>
              <a:rPr lang="en-US" b="1" dirty="0"/>
              <a:t>Validation includes:</a:t>
            </a:r>
            <a:br>
              <a:rPr lang="en-US" dirty="0"/>
            </a:br>
            <a:r>
              <a:rPr lang="en-US" dirty="0"/>
              <a:t>• Hourly rate limits set by HR (</a:t>
            </a:r>
            <a:r>
              <a:rPr lang="en-US" dirty="0" err="1"/>
              <a:t>e.g</a:t>
            </a:r>
            <a:r>
              <a:rPr lang="en-US" dirty="0"/>
              <a:t> R100–R1000)</a:t>
            </a:r>
            <a:br>
              <a:rPr lang="en-US" dirty="0"/>
            </a:br>
            <a:r>
              <a:rPr lang="en-US" dirty="0"/>
              <a:t>• Monthly hour limits (</a:t>
            </a:r>
            <a:r>
              <a:rPr lang="en-US" dirty="0" err="1"/>
              <a:t>e.g</a:t>
            </a:r>
            <a:r>
              <a:rPr lang="en-US" dirty="0"/>
              <a:t> 180 max)</a:t>
            </a:r>
            <a:br>
              <a:rPr lang="en-US" dirty="0"/>
            </a:br>
            <a:r>
              <a:rPr lang="en-US" dirty="0"/>
              <a:t>• Required month and lecturer selection</a:t>
            </a:r>
            <a:br>
              <a:rPr lang="en-US" dirty="0"/>
            </a:br>
            <a:r>
              <a:rPr lang="en-US" dirty="0"/>
              <a:t>• Document upload checks (file size + file type)</a:t>
            </a:r>
          </a:p>
          <a:p>
            <a:pPr defTabSz="914400">
              <a:spcAft>
                <a:spcPts val="600"/>
              </a:spcAft>
              <a:buClr>
                <a:schemeClr val="tx1">
                  <a:lumMod val="85000"/>
                  <a:lumOff val="15000"/>
                </a:schemeClr>
              </a:buClr>
            </a:pPr>
            <a:r>
              <a:rPr lang="en-US" b="1" dirty="0"/>
              <a:t>Purpose:</a:t>
            </a:r>
            <a:br>
              <a:rPr lang="en-US" dirty="0"/>
            </a:br>
            <a:r>
              <a:rPr lang="en-US" dirty="0"/>
              <a:t>• Prevent invalid data before it enters the workflow</a:t>
            </a:r>
            <a:br>
              <a:rPr lang="en-US" dirty="0"/>
            </a:br>
            <a:r>
              <a:rPr lang="en-US" dirty="0"/>
              <a:t>• Reduce administrative corrections for PC/Manager</a:t>
            </a:r>
            <a:br>
              <a:rPr lang="en-US" dirty="0"/>
            </a:br>
            <a:r>
              <a:rPr lang="en-US" dirty="0"/>
              <a:t>• Maintain clean, consistent data for HR reporting</a:t>
            </a:r>
          </a:p>
        </p:txBody>
      </p:sp>
    </p:spTree>
    <p:extLst>
      <p:ext uri="{BB962C8B-B14F-4D97-AF65-F5344CB8AC3E}">
        <p14:creationId xmlns:p14="http://schemas.microsoft.com/office/powerpoint/2010/main" val="17170435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70" name="Rectangle 69">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C83B75A5-E762-16D7-BD01-808F12A2C87F}"/>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b="1" dirty="0">
                <a:solidFill>
                  <a:schemeClr val="tx1">
                    <a:lumMod val="85000"/>
                    <a:lumOff val="15000"/>
                  </a:schemeClr>
                </a:solidFill>
                <a:latin typeface="+mj-lt"/>
              </a:rPr>
              <a:t>Lecturer Submission </a:t>
            </a:r>
          </a:p>
        </p:txBody>
      </p:sp>
      <p:sp>
        <p:nvSpPr>
          <p:cNvPr id="71" name="Rectangle 70">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72" name="Rectangle 7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8" name="Picture 7">
            <a:extLst>
              <a:ext uri="{FF2B5EF4-FFF2-40B4-BE49-F238E27FC236}">
                <a16:creationId xmlns:a16="http://schemas.microsoft.com/office/drawing/2014/main" id="{054C7E7A-0571-E179-018D-5A0FEDC8C2B6}"/>
              </a:ext>
            </a:extLst>
          </p:cNvPr>
          <p:cNvPicPr>
            <a:picLocks noChangeAspect="1"/>
          </p:cNvPicPr>
          <p:nvPr/>
        </p:nvPicPr>
        <p:blipFill>
          <a:blip r:embed="rId2"/>
          <a:stretch>
            <a:fillRect/>
          </a:stretch>
        </p:blipFill>
        <p:spPr>
          <a:xfrm>
            <a:off x="1205256" y="2014426"/>
            <a:ext cx="4414438" cy="2847312"/>
          </a:xfrm>
          <a:prstGeom prst="rect">
            <a:avLst/>
          </a:prstGeom>
        </p:spPr>
      </p:pic>
      <p:sp>
        <p:nvSpPr>
          <p:cNvPr id="7" name="Rectangle 2">
            <a:extLst>
              <a:ext uri="{FF2B5EF4-FFF2-40B4-BE49-F238E27FC236}">
                <a16:creationId xmlns:a16="http://schemas.microsoft.com/office/drawing/2014/main" id="{171DE876-12EA-DB07-4D23-65CFC79D62AC}"/>
              </a:ext>
            </a:extLst>
          </p:cNvPr>
          <p:cNvSpPr>
            <a:spLocks noChangeArrowheads="1"/>
          </p:cNvSpPr>
          <p:nvPr/>
        </p:nvSpPr>
        <p:spPr bwMode="auto">
          <a:xfrm>
            <a:off x="6579450" y="2538919"/>
            <a:ext cx="4957554" cy="34961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32500" lnSpcReduction="20000"/>
          </a:bodyPr>
          <a:lstStyle/>
          <a:p>
            <a:pPr marR="0" lvl="0" defTabSz="914400" fontAlgn="base">
              <a:lnSpc>
                <a:spcPct val="90000"/>
              </a:lnSpc>
              <a:spcBef>
                <a:spcPct val="0"/>
              </a:spcBef>
              <a:spcAft>
                <a:spcPts val="600"/>
              </a:spcAft>
              <a:buClr>
                <a:schemeClr val="tx1">
                  <a:lumMod val="85000"/>
                  <a:lumOff val="15000"/>
                </a:schemeClr>
              </a:buClr>
              <a:buSzTx/>
              <a:tabLst/>
            </a:pPr>
            <a:r>
              <a:rPr kumimoji="0" lang="en-US" altLang="en-US" sz="4900" b="1" i="0" u="none" strike="noStrike" cap="none" normalizeH="0" baseline="0" dirty="0">
                <a:ln>
                  <a:noFill/>
                </a:ln>
                <a:effectLst/>
              </a:rPr>
              <a:t>The lecturer can:</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4900" b="0" i="0" u="none" strike="noStrike" cap="none" normalizeH="0" baseline="0" dirty="0">
              <a:ln>
                <a:noFill/>
              </a:ln>
              <a:effectLst/>
            </a:endParaRP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4900" b="0" i="0" u="none" strike="noStrike" cap="none" normalizeH="0" baseline="0" dirty="0">
                <a:ln>
                  <a:noFill/>
                </a:ln>
                <a:effectLst/>
              </a:rPr>
              <a:t>Select their profile (pre-captured by HR).</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4900" b="0" i="0" u="none" strike="noStrike" cap="none" normalizeH="0" baseline="0" dirty="0">
                <a:ln>
                  <a:noFill/>
                </a:ln>
                <a:effectLst/>
              </a:rPr>
              <a:t>Capture hours worked for a given month.</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4900" b="0" i="0" u="none" strike="noStrike" cap="none" normalizeH="0" baseline="0" dirty="0">
                <a:ln>
                  <a:noFill/>
                </a:ln>
                <a:effectLst/>
              </a:rPr>
              <a:t>Automatically see the calculated amount based on the HR defined hourly rate.</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4900" b="0" i="0" u="none" strike="noStrike" cap="none" normalizeH="0" baseline="0" dirty="0">
                <a:ln>
                  <a:noFill/>
                </a:ln>
                <a:effectLst/>
              </a:rPr>
              <a:t>Upload a supporting document (PDF, DOCX or XLSX).</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4900" b="0" i="0" u="none" strike="noStrike" cap="none" normalizeH="0" baseline="0" dirty="0">
              <a:ln>
                <a:noFill/>
              </a:ln>
              <a:effectLst/>
            </a:endParaRPr>
          </a:p>
          <a:p>
            <a:pPr marR="0" lvl="0" defTabSz="914400" fontAlgn="base">
              <a:lnSpc>
                <a:spcPct val="90000"/>
              </a:lnSpc>
              <a:spcBef>
                <a:spcPct val="0"/>
              </a:spcBef>
              <a:spcAft>
                <a:spcPts val="600"/>
              </a:spcAft>
              <a:buClr>
                <a:schemeClr val="tx1">
                  <a:lumMod val="85000"/>
                  <a:lumOff val="15000"/>
                </a:schemeClr>
              </a:buClr>
              <a:buSzTx/>
              <a:tabLst/>
            </a:pPr>
            <a:r>
              <a:rPr kumimoji="0" lang="en-US" altLang="en-US" sz="4900" b="1" i="0" u="none" strike="noStrike" cap="none" normalizeH="0" baseline="0" dirty="0">
                <a:ln>
                  <a:noFill/>
                </a:ln>
                <a:effectLst/>
              </a:rPr>
              <a:t>Validation rules:</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4900" b="0" i="0" u="none" strike="noStrike" cap="none" normalizeH="0" baseline="0" dirty="0">
              <a:ln>
                <a:noFill/>
              </a:ln>
              <a:effectLst/>
            </a:endParaRP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4900" b="0" i="0" u="none" strike="noStrike" cap="none" normalizeH="0" baseline="0" dirty="0">
                <a:ln>
                  <a:noFill/>
                </a:ln>
                <a:effectLst/>
              </a:rPr>
              <a:t>Prevent duplicate claims for the same lecturer and month (unless rejected).</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4900" b="0" i="0" u="none" strike="noStrike" cap="none" normalizeH="0" baseline="0" dirty="0">
                <a:ln>
                  <a:noFill/>
                </a:ln>
                <a:effectLst/>
              </a:rPr>
              <a:t>Limit hours per month (e.g. max 180).</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4900" b="0" i="0" u="none" strike="noStrike" cap="none" normalizeH="0" baseline="0" dirty="0">
                <a:ln>
                  <a:noFill/>
                </a:ln>
                <a:effectLst/>
              </a:rPr>
              <a:t>Enforce hourly rate ranges and file size/type</a:t>
            </a:r>
            <a:r>
              <a:rPr kumimoji="0" lang="en-US" altLang="en-US" sz="1700" b="0" i="0" u="none" strike="noStrike" cap="none" normalizeH="0" baseline="0" dirty="0">
                <a:ln>
                  <a:noFill/>
                </a:ln>
                <a:effectLst/>
              </a:rPr>
              <a:t>.</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1100" b="0" i="0" u="none" strike="noStrike" cap="none" normalizeH="0" baseline="0" dirty="0">
              <a:ln>
                <a:noFill/>
              </a:ln>
              <a:effectLst/>
            </a:endParaRPr>
          </a:p>
        </p:txBody>
      </p:sp>
    </p:spTree>
    <p:extLst>
      <p:ext uri="{BB962C8B-B14F-4D97-AF65-F5344CB8AC3E}">
        <p14:creationId xmlns:p14="http://schemas.microsoft.com/office/powerpoint/2010/main" val="37660482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7" name="Rectangle 16">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9D5DE451-7976-5239-9F88-333901A265A1}"/>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b="1">
                <a:solidFill>
                  <a:schemeClr val="tx1">
                    <a:lumMod val="85000"/>
                    <a:lumOff val="15000"/>
                  </a:schemeClr>
                </a:solidFill>
                <a:latin typeface="+mj-lt"/>
              </a:rPr>
              <a:t>Coordinator Review </a:t>
            </a:r>
          </a:p>
        </p:txBody>
      </p:sp>
      <p:sp>
        <p:nvSpPr>
          <p:cNvPr id="19" name="Rectangle 18">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21" name="Rectangle 20">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8" name="Picture 7">
            <a:extLst>
              <a:ext uri="{FF2B5EF4-FFF2-40B4-BE49-F238E27FC236}">
                <a16:creationId xmlns:a16="http://schemas.microsoft.com/office/drawing/2014/main" id="{397E1EBB-CB39-5FAE-6C1A-387559A6A7C3}"/>
              </a:ext>
            </a:extLst>
          </p:cNvPr>
          <p:cNvPicPr>
            <a:picLocks noChangeAspect="1"/>
          </p:cNvPicPr>
          <p:nvPr/>
        </p:nvPicPr>
        <p:blipFill>
          <a:blip r:embed="rId2"/>
          <a:stretch>
            <a:fillRect/>
          </a:stretch>
        </p:blipFill>
        <p:spPr>
          <a:xfrm>
            <a:off x="1205256" y="2389653"/>
            <a:ext cx="4414438" cy="2096858"/>
          </a:xfrm>
          <a:prstGeom prst="rect">
            <a:avLst/>
          </a:prstGeom>
        </p:spPr>
      </p:pic>
      <p:sp>
        <p:nvSpPr>
          <p:cNvPr id="5" name="Rectangle 1">
            <a:extLst>
              <a:ext uri="{FF2B5EF4-FFF2-40B4-BE49-F238E27FC236}">
                <a16:creationId xmlns:a16="http://schemas.microsoft.com/office/drawing/2014/main" id="{49A8CB2A-0C22-6CBA-E5C3-57FBBD216433}"/>
              </a:ext>
            </a:extLst>
          </p:cNvPr>
          <p:cNvSpPr>
            <a:spLocks noChangeArrowheads="1"/>
          </p:cNvSpPr>
          <p:nvPr/>
        </p:nvSpPr>
        <p:spPr bwMode="auto">
          <a:xfrm>
            <a:off x="6579450" y="2538919"/>
            <a:ext cx="4957554" cy="34961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defTabSz="914400" fontAlgn="base">
              <a:lnSpc>
                <a:spcPct val="90000"/>
              </a:lnSpc>
              <a:spcBef>
                <a:spcPct val="0"/>
              </a:spcBef>
              <a:spcAft>
                <a:spcPts val="600"/>
              </a:spcAft>
              <a:buClr>
                <a:schemeClr val="tx1">
                  <a:lumMod val="85000"/>
                  <a:lumOff val="15000"/>
                </a:schemeClr>
              </a:buClr>
            </a:pPr>
            <a:r>
              <a:rPr lang="en-US" altLang="en-US" dirty="0"/>
              <a:t>Sees only </a:t>
            </a:r>
            <a:r>
              <a:rPr lang="en-US" altLang="en-US" b="1" dirty="0"/>
              <a:t>Submitted</a:t>
            </a:r>
            <a:r>
              <a:rPr lang="en-US" altLang="en-US" dirty="0"/>
              <a:t> claims.</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b="1" i="0" u="none" strike="noStrike" cap="none" normalizeH="0" baseline="0" dirty="0">
              <a:ln>
                <a:noFill/>
              </a:ln>
              <a:effectLst/>
            </a:endParaRPr>
          </a:p>
          <a:p>
            <a:pPr marR="0" lvl="0" defTabSz="914400" fontAlgn="base">
              <a:lnSpc>
                <a:spcPct val="90000"/>
              </a:lnSpc>
              <a:spcBef>
                <a:spcPct val="0"/>
              </a:spcBef>
              <a:spcAft>
                <a:spcPts val="600"/>
              </a:spcAft>
              <a:buClr>
                <a:schemeClr val="tx1">
                  <a:lumMod val="85000"/>
                  <a:lumOff val="15000"/>
                </a:schemeClr>
              </a:buClr>
              <a:buSzTx/>
              <a:tabLst/>
            </a:pPr>
            <a:r>
              <a:rPr kumimoji="0" lang="en-US" altLang="en-US" b="1" i="0" u="none" strike="noStrike" cap="none" normalizeH="0" baseline="0" dirty="0">
                <a:ln>
                  <a:noFill/>
                </a:ln>
                <a:effectLst/>
              </a:rPr>
              <a:t>Responsibilities:</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b="0" i="0" u="none" strike="noStrike" cap="none" normalizeH="0" baseline="0" dirty="0">
              <a:ln>
                <a:noFill/>
              </a:ln>
              <a:effectLst/>
            </a:endParaRPr>
          </a:p>
          <a:p>
            <a:pPr marL="28575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b="0" i="0" u="none" strike="noStrike" cap="none" normalizeH="0" baseline="0" dirty="0">
                <a:ln>
                  <a:noFill/>
                </a:ln>
                <a:effectLst/>
              </a:rPr>
              <a:t>Check for completeness and obvious issues (hours, amount, attachments).</a:t>
            </a:r>
          </a:p>
          <a:p>
            <a:pPr marL="28575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b="0" i="0" u="none" strike="noStrike" cap="none" normalizeH="0" baseline="0" dirty="0">
                <a:ln>
                  <a:noFill/>
                </a:ln>
                <a:effectLst/>
              </a:rPr>
              <a:t>Reject invalid claims with a reason.</a:t>
            </a:r>
          </a:p>
          <a:p>
            <a:pPr marL="28575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b="0" i="0" u="none" strike="noStrike" cap="none" normalizeH="0" baseline="0" dirty="0">
                <a:ln>
                  <a:noFill/>
                </a:ln>
                <a:effectLst/>
              </a:rPr>
              <a:t>Forward valid claims to the Academic Manager (status changes to </a:t>
            </a:r>
            <a:r>
              <a:rPr kumimoji="0" lang="en-US" altLang="en-US" i="0" u="none" strike="noStrike" cap="none" normalizeH="0" baseline="0" dirty="0" err="1">
                <a:ln>
                  <a:noFill/>
                </a:ln>
                <a:effectLst/>
              </a:rPr>
              <a:t>PendingReview</a:t>
            </a:r>
            <a:r>
              <a:rPr kumimoji="0" lang="en-US" altLang="en-US" i="0" u="none" strike="noStrike" cap="none" normalizeH="0" baseline="0" dirty="0">
                <a:ln>
                  <a:noFill/>
                </a:ln>
                <a:effectLst/>
              </a:rPr>
              <a:t>).</a:t>
            </a:r>
          </a:p>
          <a:p>
            <a:pPr marL="28575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b="0" i="0" u="none" strike="noStrike" cap="none" normalizeH="0" baseline="0" dirty="0">
                <a:ln>
                  <a:noFill/>
                </a:ln>
                <a:effectLst/>
              </a:rPr>
              <a:t>Auto-check logic (e.g. hours and rate limits) supports consistent decision making.</a:t>
            </a:r>
          </a:p>
        </p:txBody>
      </p:sp>
    </p:spTree>
    <p:extLst>
      <p:ext uri="{BB962C8B-B14F-4D97-AF65-F5344CB8AC3E}">
        <p14:creationId xmlns:p14="http://schemas.microsoft.com/office/powerpoint/2010/main" val="33538416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5" name="Rectangle 14">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1008BE06-6A0E-ABB6-757E-A870BE8AA8BD}"/>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800" b="1">
                <a:solidFill>
                  <a:schemeClr val="tx1">
                    <a:lumMod val="85000"/>
                    <a:lumOff val="15000"/>
                  </a:schemeClr>
                </a:solidFill>
                <a:latin typeface="+mj-lt"/>
              </a:rPr>
              <a:t>Academic Manager </a:t>
            </a:r>
          </a:p>
        </p:txBody>
      </p:sp>
      <p:sp>
        <p:nvSpPr>
          <p:cNvPr id="17" name="Rectangle 16">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19" name="Rectangle 18">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6" name="Picture 5" descr="A screenshot of a computer&#10;&#10;AI-generated content may be incorrect.">
            <a:extLst>
              <a:ext uri="{FF2B5EF4-FFF2-40B4-BE49-F238E27FC236}">
                <a16:creationId xmlns:a16="http://schemas.microsoft.com/office/drawing/2014/main" id="{36BE4EC3-6866-023F-3809-792FB10631F6}"/>
              </a:ext>
            </a:extLst>
          </p:cNvPr>
          <p:cNvPicPr>
            <a:picLocks noChangeAspect="1"/>
          </p:cNvPicPr>
          <p:nvPr/>
        </p:nvPicPr>
        <p:blipFill>
          <a:blip r:embed="rId2"/>
          <a:stretch>
            <a:fillRect/>
          </a:stretch>
        </p:blipFill>
        <p:spPr>
          <a:xfrm>
            <a:off x="1205256" y="2351027"/>
            <a:ext cx="4414438" cy="2174110"/>
          </a:xfrm>
          <a:prstGeom prst="rect">
            <a:avLst/>
          </a:prstGeom>
        </p:spPr>
      </p:pic>
      <p:sp>
        <p:nvSpPr>
          <p:cNvPr id="5" name="Rectangle 1">
            <a:extLst>
              <a:ext uri="{FF2B5EF4-FFF2-40B4-BE49-F238E27FC236}">
                <a16:creationId xmlns:a16="http://schemas.microsoft.com/office/drawing/2014/main" id="{9923D3A0-21B8-D066-823C-60E4D79250B6}"/>
              </a:ext>
            </a:extLst>
          </p:cNvPr>
          <p:cNvSpPr>
            <a:spLocks noChangeArrowheads="1"/>
          </p:cNvSpPr>
          <p:nvPr/>
        </p:nvSpPr>
        <p:spPr bwMode="auto">
          <a:xfrm>
            <a:off x="6579450" y="2538919"/>
            <a:ext cx="4957554" cy="34961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defTabSz="914400" fontAlgn="base">
              <a:spcBef>
                <a:spcPct val="0"/>
              </a:spcBef>
              <a:spcAft>
                <a:spcPts val="600"/>
              </a:spcAft>
              <a:buClr>
                <a:schemeClr val="tx1">
                  <a:lumMod val="85000"/>
                  <a:lumOff val="15000"/>
                </a:schemeClr>
              </a:buClr>
              <a:buSzTx/>
              <a:tabLst/>
            </a:pPr>
            <a:r>
              <a:rPr kumimoji="0" lang="en-US" altLang="en-US" b="0" i="0" u="none" strike="noStrike" cap="none" normalizeH="0" baseline="0" dirty="0">
                <a:ln>
                  <a:noFill/>
                </a:ln>
                <a:effectLst/>
              </a:rPr>
              <a:t>Sees only</a:t>
            </a:r>
            <a:r>
              <a:rPr kumimoji="0" lang="en-US" altLang="en-US" i="0" u="none" strike="noStrike" cap="none" normalizeH="0" baseline="0" dirty="0">
                <a:ln>
                  <a:noFill/>
                </a:ln>
                <a:effectLst/>
              </a:rPr>
              <a:t> </a:t>
            </a:r>
            <a:r>
              <a:rPr kumimoji="0" lang="en-US" altLang="en-US" i="0" u="none" strike="noStrike" cap="none" normalizeH="0" baseline="0" dirty="0" err="1">
                <a:ln>
                  <a:noFill/>
                </a:ln>
                <a:effectLst/>
              </a:rPr>
              <a:t>PendingReview</a:t>
            </a:r>
            <a:r>
              <a:rPr kumimoji="0" lang="en-US" altLang="en-US" i="0" u="none" strike="noStrike" cap="none" normalizeH="0" baseline="0" dirty="0">
                <a:ln>
                  <a:noFill/>
                </a:ln>
                <a:effectLst/>
              </a:rPr>
              <a:t> </a:t>
            </a:r>
            <a:r>
              <a:rPr kumimoji="0" lang="en-US" altLang="en-US" b="0" i="0" u="none" strike="noStrike" cap="none" normalizeH="0" baseline="0" dirty="0">
                <a:ln>
                  <a:noFill/>
                </a:ln>
                <a:effectLst/>
              </a:rPr>
              <a:t>claims.</a:t>
            </a:r>
          </a:p>
          <a:p>
            <a:pPr marL="0" marR="0" lvl="0" indent="-182880" defTabSz="914400" fontAlgn="base">
              <a:spcBef>
                <a:spcPct val="0"/>
              </a:spcBef>
              <a:spcAft>
                <a:spcPts val="600"/>
              </a:spcAft>
              <a:buClr>
                <a:schemeClr val="tx1">
                  <a:lumMod val="85000"/>
                  <a:lumOff val="15000"/>
                </a:schemeClr>
              </a:buClr>
              <a:buSzTx/>
              <a:buFont typeface="Garamond" pitchFamily="18" charset="0"/>
              <a:buChar char="◦"/>
              <a:tabLst/>
            </a:pPr>
            <a:endParaRPr kumimoji="0" lang="en-US" altLang="en-US" b="0" i="0" u="none" strike="noStrike" cap="none" normalizeH="0" baseline="0" dirty="0">
              <a:ln>
                <a:noFill/>
              </a:ln>
              <a:effectLst/>
            </a:endParaRPr>
          </a:p>
          <a:p>
            <a:pPr marR="0" lvl="0" defTabSz="914400" fontAlgn="base">
              <a:spcBef>
                <a:spcPct val="0"/>
              </a:spcBef>
              <a:spcAft>
                <a:spcPts val="600"/>
              </a:spcAft>
              <a:buClr>
                <a:schemeClr val="tx1">
                  <a:lumMod val="85000"/>
                  <a:lumOff val="15000"/>
                </a:schemeClr>
              </a:buClr>
              <a:buSzTx/>
              <a:tabLst/>
            </a:pPr>
            <a:r>
              <a:rPr kumimoji="0" lang="en-US" altLang="en-US" b="1" i="0" u="none" strike="noStrike" cap="none" normalizeH="0" baseline="0" dirty="0">
                <a:ln>
                  <a:noFill/>
                </a:ln>
                <a:effectLst/>
              </a:rPr>
              <a:t>Responsibilities:</a:t>
            </a:r>
          </a:p>
          <a:p>
            <a:pPr marL="0" marR="0" lvl="0" indent="-182880" defTabSz="914400" fontAlgn="base">
              <a:spcBef>
                <a:spcPct val="0"/>
              </a:spcBef>
              <a:spcAft>
                <a:spcPts val="600"/>
              </a:spcAft>
              <a:buClr>
                <a:schemeClr val="tx1">
                  <a:lumMod val="85000"/>
                  <a:lumOff val="15000"/>
                </a:schemeClr>
              </a:buClr>
              <a:buSzTx/>
              <a:buFont typeface="Garamond" pitchFamily="18" charset="0"/>
              <a:buChar char="◦"/>
              <a:tabLst/>
            </a:pPr>
            <a:endParaRPr kumimoji="0" lang="en-US" altLang="en-US" b="0" i="0" u="none" strike="noStrike" cap="none" normalizeH="0" baseline="0" dirty="0">
              <a:ln>
                <a:noFill/>
              </a:ln>
              <a:effectLst/>
            </a:endParaRPr>
          </a:p>
          <a:p>
            <a:pPr marL="0" marR="0" lvl="0" indent="-182880" defTabSz="914400" fontAlgn="base">
              <a:spcBef>
                <a:spcPct val="0"/>
              </a:spcBef>
              <a:spcAft>
                <a:spcPts val="600"/>
              </a:spcAft>
              <a:buClr>
                <a:schemeClr val="tx1">
                  <a:lumMod val="85000"/>
                  <a:lumOff val="15000"/>
                </a:schemeClr>
              </a:buClr>
              <a:buSzTx/>
              <a:buFont typeface="Garamond" pitchFamily="18" charset="0"/>
              <a:buChar char="◦"/>
              <a:tabLst/>
            </a:pPr>
            <a:r>
              <a:rPr kumimoji="0" lang="en-US" altLang="en-US" b="0" i="0" u="none" strike="noStrike" cap="none" normalizeH="0" baseline="0" dirty="0">
                <a:ln>
                  <a:noFill/>
                </a:ln>
                <a:effectLst/>
              </a:rPr>
              <a:t>Perform a final review for accuracy and fairness.</a:t>
            </a:r>
          </a:p>
          <a:p>
            <a:pPr marL="0" marR="0" lvl="0" indent="-182880" defTabSz="914400" fontAlgn="base">
              <a:spcBef>
                <a:spcPct val="0"/>
              </a:spcBef>
              <a:spcAft>
                <a:spcPts val="600"/>
              </a:spcAft>
              <a:buClr>
                <a:schemeClr val="tx1">
                  <a:lumMod val="85000"/>
                  <a:lumOff val="15000"/>
                </a:schemeClr>
              </a:buClr>
              <a:buSzTx/>
              <a:buFont typeface="Garamond" pitchFamily="18" charset="0"/>
              <a:buChar char="◦"/>
              <a:tabLst/>
            </a:pPr>
            <a:r>
              <a:rPr kumimoji="0" lang="en-US" altLang="en-US" b="0" i="0" u="none" strike="noStrike" cap="none" normalizeH="0" baseline="0" dirty="0">
                <a:ln>
                  <a:noFill/>
                </a:ln>
                <a:effectLst/>
              </a:rPr>
              <a:t>Approve or reject claims.</a:t>
            </a:r>
          </a:p>
          <a:p>
            <a:pPr marL="0" marR="0" lvl="0" indent="-182880" defTabSz="914400" fontAlgn="base">
              <a:spcBef>
                <a:spcPct val="0"/>
              </a:spcBef>
              <a:spcAft>
                <a:spcPts val="600"/>
              </a:spcAft>
              <a:buClr>
                <a:schemeClr val="tx1">
                  <a:lumMod val="85000"/>
                  <a:lumOff val="15000"/>
                </a:schemeClr>
              </a:buClr>
              <a:buSzTx/>
              <a:buFont typeface="Garamond" pitchFamily="18" charset="0"/>
              <a:buChar char="◦"/>
              <a:tabLst/>
            </a:pPr>
            <a:r>
              <a:rPr kumimoji="0" lang="en-US" altLang="en-US" b="0" i="0" u="none" strike="noStrike" cap="none" normalizeH="0" baseline="0" dirty="0">
                <a:ln>
                  <a:noFill/>
                </a:ln>
                <a:effectLst/>
              </a:rPr>
              <a:t>Once </a:t>
            </a:r>
            <a:r>
              <a:rPr kumimoji="0" lang="en-US" altLang="en-US" i="0" u="none" strike="noStrike" cap="none" normalizeH="0" baseline="0" dirty="0">
                <a:ln>
                  <a:noFill/>
                </a:ln>
                <a:effectLst/>
              </a:rPr>
              <a:t>Approved, </a:t>
            </a:r>
            <a:r>
              <a:rPr kumimoji="0" lang="en-US" altLang="en-US" b="0" i="0" u="none" strike="noStrike" cap="none" normalizeH="0" baseline="0" dirty="0">
                <a:ln>
                  <a:noFill/>
                </a:ln>
                <a:effectLst/>
              </a:rPr>
              <a:t>claims are no longer visible to Lecturer/Coordinator/Manager workflows and they feed into HR reporting.</a:t>
            </a:r>
          </a:p>
        </p:txBody>
      </p:sp>
    </p:spTree>
    <p:extLst>
      <p:ext uri="{BB962C8B-B14F-4D97-AF65-F5344CB8AC3E}">
        <p14:creationId xmlns:p14="http://schemas.microsoft.com/office/powerpoint/2010/main" val="264455039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9779E0-E747-CD4F-3437-D638498FAA1F}"/>
              </a:ext>
            </a:extLst>
          </p:cNvPr>
          <p:cNvSpPr txBox="1"/>
          <p:nvPr/>
        </p:nvSpPr>
        <p:spPr>
          <a:xfrm>
            <a:off x="631371" y="645176"/>
            <a:ext cx="2786743" cy="830997"/>
          </a:xfrm>
          <a:prstGeom prst="rect">
            <a:avLst/>
          </a:prstGeom>
          <a:noFill/>
        </p:spPr>
        <p:txBody>
          <a:bodyPr wrap="square" rtlCol="0">
            <a:spAutoFit/>
          </a:bodyPr>
          <a:lstStyle/>
          <a:p>
            <a:r>
              <a:rPr lang="en-ZA" sz="4800" b="1" dirty="0"/>
              <a:t>HR Role</a:t>
            </a:r>
          </a:p>
        </p:txBody>
      </p:sp>
      <p:sp>
        <p:nvSpPr>
          <p:cNvPr id="4" name="TextBox 3">
            <a:extLst>
              <a:ext uri="{FF2B5EF4-FFF2-40B4-BE49-F238E27FC236}">
                <a16:creationId xmlns:a16="http://schemas.microsoft.com/office/drawing/2014/main" id="{41564135-454B-2DE0-D2FD-7907F018E217}"/>
              </a:ext>
            </a:extLst>
          </p:cNvPr>
          <p:cNvSpPr txBox="1"/>
          <p:nvPr/>
        </p:nvSpPr>
        <p:spPr>
          <a:xfrm>
            <a:off x="631371" y="2667915"/>
            <a:ext cx="5747656" cy="3416320"/>
          </a:xfrm>
          <a:prstGeom prst="rect">
            <a:avLst/>
          </a:prstGeom>
          <a:noFill/>
        </p:spPr>
        <p:txBody>
          <a:bodyPr wrap="square">
            <a:spAutoFit/>
          </a:bodyPr>
          <a:lstStyle/>
          <a:p>
            <a:pPr>
              <a:buNone/>
            </a:pPr>
            <a:r>
              <a:rPr lang="en-US" b="1" dirty="0"/>
              <a:t>HR Responsibilities:</a:t>
            </a:r>
            <a:br>
              <a:rPr lang="en-US" dirty="0"/>
            </a:br>
            <a:r>
              <a:rPr lang="en-US" dirty="0"/>
              <a:t>• Maintains lecturer profiles</a:t>
            </a:r>
          </a:p>
          <a:p>
            <a:pPr>
              <a:buNone/>
            </a:pPr>
            <a:endParaRPr lang="en-US" dirty="0"/>
          </a:p>
          <a:p>
            <a:pPr>
              <a:buFont typeface="Arial" panose="020B0604020202020204" pitchFamily="34" charset="0"/>
              <a:buChar char="•"/>
            </a:pPr>
            <a:r>
              <a:rPr lang="en-US" dirty="0"/>
              <a:t>Hourly rate</a:t>
            </a:r>
          </a:p>
          <a:p>
            <a:pPr>
              <a:buFont typeface="Arial" panose="020B0604020202020204" pitchFamily="34" charset="0"/>
              <a:buChar char="•"/>
            </a:pPr>
            <a:r>
              <a:rPr lang="en-US" dirty="0"/>
              <a:t>Email, phone, department</a:t>
            </a:r>
          </a:p>
          <a:p>
            <a:pPr>
              <a:buFont typeface="Arial" panose="020B0604020202020204" pitchFamily="34" charset="0"/>
              <a:buChar char="•"/>
            </a:pPr>
            <a:r>
              <a:rPr lang="en-US" dirty="0"/>
              <a:t>Active/Inactive status</a:t>
            </a:r>
          </a:p>
          <a:p>
            <a:endParaRPr lang="en-US" dirty="0"/>
          </a:p>
          <a:p>
            <a:pPr>
              <a:buNone/>
            </a:pPr>
            <a:r>
              <a:rPr lang="en-US" dirty="0"/>
              <a:t>• Views monthly summaries of approved claims</a:t>
            </a:r>
            <a:br>
              <a:rPr lang="en-US" dirty="0"/>
            </a:br>
            <a:r>
              <a:rPr lang="en-US" dirty="0"/>
              <a:t>• Downloads CSV exports</a:t>
            </a:r>
            <a:br>
              <a:rPr lang="en-US" dirty="0"/>
            </a:br>
            <a:r>
              <a:rPr lang="en-US" dirty="0"/>
              <a:t>• Opens invoice-style breakdowns per lecturer</a:t>
            </a:r>
            <a:br>
              <a:rPr lang="en-US" dirty="0"/>
            </a:br>
            <a:r>
              <a:rPr lang="en-US" dirty="0"/>
              <a:t>• Only sees final, approved data, aligned with institutional structure</a:t>
            </a:r>
          </a:p>
        </p:txBody>
      </p:sp>
      <p:sp>
        <p:nvSpPr>
          <p:cNvPr id="6" name="TextBox 5">
            <a:extLst>
              <a:ext uri="{FF2B5EF4-FFF2-40B4-BE49-F238E27FC236}">
                <a16:creationId xmlns:a16="http://schemas.microsoft.com/office/drawing/2014/main" id="{EF0694DD-B22C-81B4-2AC2-E5A80ECF10D6}"/>
              </a:ext>
            </a:extLst>
          </p:cNvPr>
          <p:cNvSpPr txBox="1"/>
          <p:nvPr/>
        </p:nvSpPr>
        <p:spPr>
          <a:xfrm>
            <a:off x="631371" y="1422463"/>
            <a:ext cx="5834743" cy="646331"/>
          </a:xfrm>
          <a:prstGeom prst="rect">
            <a:avLst/>
          </a:prstGeom>
          <a:noFill/>
        </p:spPr>
        <p:txBody>
          <a:bodyPr wrap="square">
            <a:spAutoFit/>
          </a:bodyPr>
          <a:lstStyle/>
          <a:p>
            <a:r>
              <a:rPr lang="en-US" dirty="0"/>
              <a:t>This role shows that the system can support real administrative processes beyond simple approval.</a:t>
            </a:r>
            <a:endParaRPr lang="en-ZA" dirty="0"/>
          </a:p>
        </p:txBody>
      </p:sp>
      <p:pic>
        <p:nvPicPr>
          <p:cNvPr id="8" name="Picture 7" descr="A screenshot of a computer&#10;&#10;AI-generated content may be incorrect.">
            <a:extLst>
              <a:ext uri="{FF2B5EF4-FFF2-40B4-BE49-F238E27FC236}">
                <a16:creationId xmlns:a16="http://schemas.microsoft.com/office/drawing/2014/main" id="{D67055F6-93C7-5225-CF87-CFE615FBD092}"/>
              </a:ext>
            </a:extLst>
          </p:cNvPr>
          <p:cNvPicPr>
            <a:picLocks noChangeAspect="1"/>
          </p:cNvPicPr>
          <p:nvPr/>
        </p:nvPicPr>
        <p:blipFill>
          <a:blip r:embed="rId2"/>
          <a:stretch>
            <a:fillRect/>
          </a:stretch>
        </p:blipFill>
        <p:spPr>
          <a:xfrm>
            <a:off x="6764061" y="638677"/>
            <a:ext cx="4796568" cy="264477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4F328EC0-CF27-28BE-547A-D757AB9306AB}"/>
              </a:ext>
            </a:extLst>
          </p:cNvPr>
          <p:cNvPicPr>
            <a:picLocks noChangeAspect="1"/>
          </p:cNvPicPr>
          <p:nvPr/>
        </p:nvPicPr>
        <p:blipFill>
          <a:blip r:embed="rId3"/>
          <a:stretch>
            <a:fillRect/>
          </a:stretch>
        </p:blipFill>
        <p:spPr>
          <a:xfrm>
            <a:off x="6764060" y="3429000"/>
            <a:ext cx="4796568" cy="2803438"/>
          </a:xfrm>
          <a:prstGeom prst="rect">
            <a:avLst/>
          </a:prstGeom>
        </p:spPr>
      </p:pic>
    </p:spTree>
    <p:extLst>
      <p:ext uri="{BB962C8B-B14F-4D97-AF65-F5344CB8AC3E}">
        <p14:creationId xmlns:p14="http://schemas.microsoft.com/office/powerpoint/2010/main" val="181544749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5" name="Rectangle 14">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114B4287-B82D-DF15-5C0B-919E54592649}"/>
              </a:ext>
            </a:extLst>
          </p:cNvPr>
          <p:cNvSpPr txBox="1"/>
          <p:nvPr/>
        </p:nvSpPr>
        <p:spPr>
          <a:xfrm>
            <a:off x="6579450" y="727627"/>
            <a:ext cx="4957553" cy="164592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400" b="1">
                <a:solidFill>
                  <a:schemeClr val="tx1">
                    <a:lumMod val="85000"/>
                    <a:lumOff val="15000"/>
                  </a:schemeClr>
                </a:solidFill>
                <a:latin typeface="+mj-lt"/>
              </a:rPr>
              <a:t>Monthly Summary &amp; Invoice </a:t>
            </a:r>
          </a:p>
        </p:txBody>
      </p:sp>
      <p:sp>
        <p:nvSpPr>
          <p:cNvPr id="17" name="Rectangle 16">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ZA"/>
          </a:p>
        </p:txBody>
      </p:sp>
      <p:sp>
        <p:nvSpPr>
          <p:cNvPr id="19" name="Rectangle 18">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ZA"/>
          </a:p>
        </p:txBody>
      </p:sp>
      <p:pic>
        <p:nvPicPr>
          <p:cNvPr id="6" name="Picture 5">
            <a:extLst>
              <a:ext uri="{FF2B5EF4-FFF2-40B4-BE49-F238E27FC236}">
                <a16:creationId xmlns:a16="http://schemas.microsoft.com/office/drawing/2014/main" id="{42C8FEB1-1C55-BD79-96AA-615D9DCA286A}"/>
              </a:ext>
            </a:extLst>
          </p:cNvPr>
          <p:cNvPicPr>
            <a:picLocks noChangeAspect="1"/>
          </p:cNvPicPr>
          <p:nvPr/>
        </p:nvPicPr>
        <p:blipFill>
          <a:blip r:embed="rId2"/>
          <a:stretch>
            <a:fillRect/>
          </a:stretch>
        </p:blipFill>
        <p:spPr>
          <a:xfrm>
            <a:off x="1205199" y="1583373"/>
            <a:ext cx="4414438" cy="1776811"/>
          </a:xfrm>
          <a:prstGeom prst="rect">
            <a:avLst/>
          </a:prstGeom>
        </p:spPr>
      </p:pic>
      <p:sp>
        <p:nvSpPr>
          <p:cNvPr id="5" name="Rectangle 1">
            <a:extLst>
              <a:ext uri="{FF2B5EF4-FFF2-40B4-BE49-F238E27FC236}">
                <a16:creationId xmlns:a16="http://schemas.microsoft.com/office/drawing/2014/main" id="{F794D7CC-E82B-FCA5-34E0-7CE548FAD69E}"/>
              </a:ext>
            </a:extLst>
          </p:cNvPr>
          <p:cNvSpPr>
            <a:spLocks noChangeArrowheads="1"/>
          </p:cNvSpPr>
          <p:nvPr/>
        </p:nvSpPr>
        <p:spPr bwMode="auto">
          <a:xfrm>
            <a:off x="6579450" y="2538919"/>
            <a:ext cx="4957554" cy="34961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defTabSz="914400" fontAlgn="base">
              <a:lnSpc>
                <a:spcPct val="90000"/>
              </a:lnSpc>
              <a:spcBef>
                <a:spcPct val="0"/>
              </a:spcBef>
              <a:spcAft>
                <a:spcPts val="600"/>
              </a:spcAft>
              <a:buClr>
                <a:schemeClr val="tx1">
                  <a:lumMod val="85000"/>
                  <a:lumOff val="15000"/>
                </a:schemeClr>
              </a:buClr>
              <a:buSzTx/>
              <a:tabLst/>
            </a:pPr>
            <a:r>
              <a:rPr kumimoji="0" lang="en-US" altLang="en-US" sz="1400" b="1" i="0" u="none" strike="noStrike" cap="none" normalizeH="0" baseline="0" dirty="0">
                <a:ln>
                  <a:noFill/>
                </a:ln>
                <a:effectLst/>
              </a:rPr>
              <a:t>The HR dashboard includes:</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1400" b="0" i="0" u="none" strike="noStrike" cap="none" normalizeH="0" baseline="0" dirty="0">
              <a:ln>
                <a:noFill/>
              </a:ln>
              <a:effectLst/>
            </a:endParaRP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Month selection (from actual approved claim months).</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Per-lecturer totals:</a:t>
            </a:r>
          </a:p>
          <a:p>
            <a:pPr marL="457200" marR="0" lvl="1"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Total hours</a:t>
            </a:r>
          </a:p>
          <a:p>
            <a:pPr marL="457200" marR="0" lvl="1"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Average rate</a:t>
            </a:r>
          </a:p>
          <a:p>
            <a:pPr marL="457200" marR="0" lvl="1"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Total amount for the month</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Grand totals for the selected month.</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An invoice-style page:</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Lists each approved claim line for a lecturer and month.</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Shows hours, rate and calculated amount.</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r>
              <a:rPr kumimoji="0" lang="en-US" altLang="en-US" sz="1400" b="0" i="0" u="none" strike="noStrike" cap="none" normalizeH="0" baseline="0" dirty="0">
                <a:ln>
                  <a:noFill/>
                </a:ln>
                <a:effectLst/>
              </a:rPr>
              <a:t>Includes a print friendly layout so HR can “Print / Save as PDF”.</a:t>
            </a:r>
          </a:p>
          <a:p>
            <a:pPr marL="0" marR="0" lvl="0" indent="-182880" defTabSz="914400" fontAlgn="base">
              <a:lnSpc>
                <a:spcPct val="90000"/>
              </a:lnSpc>
              <a:spcBef>
                <a:spcPct val="0"/>
              </a:spcBef>
              <a:spcAft>
                <a:spcPts val="600"/>
              </a:spcAft>
              <a:buClr>
                <a:schemeClr val="tx1">
                  <a:lumMod val="85000"/>
                  <a:lumOff val="15000"/>
                </a:schemeClr>
              </a:buClr>
              <a:buSzTx/>
              <a:buFont typeface="Garamond" pitchFamily="18" charset="0"/>
              <a:buChar char="◦"/>
              <a:tabLst/>
            </a:pPr>
            <a:endParaRPr kumimoji="0" lang="en-US" altLang="en-US" sz="1400" b="0" i="0" u="none" strike="noStrike" cap="none" normalizeH="0" baseline="0" dirty="0">
              <a:ln>
                <a:noFill/>
              </a:ln>
              <a:effectLst/>
            </a:endParaRPr>
          </a:p>
        </p:txBody>
      </p:sp>
      <p:pic>
        <p:nvPicPr>
          <p:cNvPr id="7" name="Picture 6" descr="Screens screenshot of a computer&#10;&#10;AI-generated content may be incorrect.">
            <a:extLst>
              <a:ext uri="{FF2B5EF4-FFF2-40B4-BE49-F238E27FC236}">
                <a16:creationId xmlns:a16="http://schemas.microsoft.com/office/drawing/2014/main" id="{A9AB0F22-1D47-47F2-0D74-2890F6CD759B}"/>
              </a:ext>
            </a:extLst>
          </p:cNvPr>
          <p:cNvPicPr>
            <a:picLocks noChangeAspect="1"/>
          </p:cNvPicPr>
          <p:nvPr/>
        </p:nvPicPr>
        <p:blipFill>
          <a:blip r:embed="rId3"/>
          <a:stretch>
            <a:fillRect/>
          </a:stretch>
        </p:blipFill>
        <p:spPr>
          <a:xfrm>
            <a:off x="1205198" y="3635458"/>
            <a:ext cx="4414439" cy="2078573"/>
          </a:xfrm>
          <a:prstGeom prst="rect">
            <a:avLst/>
          </a:prstGeom>
        </p:spPr>
      </p:pic>
    </p:spTree>
    <p:extLst>
      <p:ext uri="{BB962C8B-B14F-4D97-AF65-F5344CB8AC3E}">
        <p14:creationId xmlns:p14="http://schemas.microsoft.com/office/powerpoint/2010/main" val="136520815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8DE9B99-ADEF-4DA4-A716-52D0A8BE5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22" name="Rectangle 21">
            <a:extLst>
              <a:ext uri="{FF2B5EF4-FFF2-40B4-BE49-F238E27FC236}">
                <a16:creationId xmlns:a16="http://schemas.microsoft.com/office/drawing/2014/main" id="{6E20860D-8992-496E-BC22-8450E344B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23" name="Rectangle 22">
            <a:extLst>
              <a:ext uri="{FF2B5EF4-FFF2-40B4-BE49-F238E27FC236}">
                <a16:creationId xmlns:a16="http://schemas.microsoft.com/office/drawing/2014/main" id="{7203729A-66E4-4139-B3DB-CECEF6DA5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48B0185-BF60-40FC-A3B6-BF883AD4E7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8" name="Rectangle 17">
            <a:extLst>
              <a:ext uri="{FF2B5EF4-FFF2-40B4-BE49-F238E27FC236}">
                <a16:creationId xmlns:a16="http://schemas.microsoft.com/office/drawing/2014/main" id="{75FF99E5-A26E-4AC8-AA09-A9F829E3A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9A78B632-5EEF-C149-59DE-111831684655}"/>
              </a:ext>
            </a:extLst>
          </p:cNvPr>
          <p:cNvSpPr txBox="1"/>
          <p:nvPr/>
        </p:nvSpPr>
        <p:spPr>
          <a:xfrm>
            <a:off x="723619" y="891241"/>
            <a:ext cx="3939084" cy="5075519"/>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r>
              <a:rPr lang="en-US" sz="4000" b="1">
                <a:solidFill>
                  <a:schemeClr val="tx1">
                    <a:lumMod val="85000"/>
                    <a:lumOff val="15000"/>
                  </a:schemeClr>
                </a:solidFill>
                <a:latin typeface="+mj-lt"/>
              </a:rPr>
              <a:t>Benefits of the System</a:t>
            </a:r>
          </a:p>
        </p:txBody>
      </p:sp>
      <p:cxnSp>
        <p:nvCxnSpPr>
          <p:cNvPr id="20" name="Straight Connector 19">
            <a:extLst>
              <a:ext uri="{FF2B5EF4-FFF2-40B4-BE49-F238E27FC236}">
                <a16:creationId xmlns:a16="http://schemas.microsoft.com/office/drawing/2014/main" id="{8A5AEE14-4971-4A17-9134-2678A90F29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9078" y="2057401"/>
            <a:ext cx="0" cy="274320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Rectangle 1">
            <a:extLst>
              <a:ext uri="{FF2B5EF4-FFF2-40B4-BE49-F238E27FC236}">
                <a16:creationId xmlns:a16="http://schemas.microsoft.com/office/drawing/2014/main" id="{18CCA20F-920E-9993-5F84-A2DFF5279D87}"/>
              </a:ext>
            </a:extLst>
          </p:cNvPr>
          <p:cNvSpPr>
            <a:spLocks noChangeArrowheads="1"/>
          </p:cNvSpPr>
          <p:nvPr/>
        </p:nvSpPr>
        <p:spPr bwMode="auto">
          <a:xfrm>
            <a:off x="5300812" y="891241"/>
            <a:ext cx="5978834" cy="50755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lvl="0" defTabSz="914400" fontAlgn="base">
              <a:spcBef>
                <a:spcPct val="0"/>
              </a:spcBef>
              <a:spcAft>
                <a:spcPts val="600"/>
              </a:spcAft>
              <a:buClr>
                <a:schemeClr val="tx1">
                  <a:lumMod val="85000"/>
                  <a:lumOff val="15000"/>
                </a:schemeClr>
              </a:buClr>
            </a:pPr>
            <a:r>
              <a:rPr lang="en-US" dirty="0"/>
              <a:t>◦ Reduces repetitive, manual admin for Lecturers, Coordinators, Managers and HR.</a:t>
            </a:r>
            <a:br>
              <a:rPr lang="en-US" dirty="0"/>
            </a:br>
            <a:r>
              <a:rPr lang="en-US" dirty="0"/>
              <a:t>◦ Ensures a clear, auditable four-stage workflow that cannot be bypassed.</a:t>
            </a:r>
            <a:br>
              <a:rPr lang="en-US" dirty="0"/>
            </a:br>
            <a:r>
              <a:rPr lang="en-US" dirty="0"/>
              <a:t>◦ Applies built-in validation to prevent duplicate, invalid or incomplete claims.</a:t>
            </a:r>
            <a:br>
              <a:rPr lang="en-US" dirty="0"/>
            </a:br>
            <a:r>
              <a:rPr lang="en-US" dirty="0"/>
              <a:t>◦ Centralizes lecturer profiles, hourly rates and status management under HR.</a:t>
            </a:r>
            <a:br>
              <a:rPr lang="en-US" dirty="0"/>
            </a:br>
            <a:r>
              <a:rPr lang="en-US" dirty="0"/>
              <a:t>◦ Produces accurate month end summaries and invoice style reports.</a:t>
            </a:r>
            <a:br>
              <a:rPr lang="en-US" dirty="0"/>
            </a:br>
            <a:r>
              <a:rPr lang="en-US" dirty="0"/>
              <a:t>◦ Improves institutional accountability by providing reliable, consistent data.</a:t>
            </a: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352882165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9" name="Rectangle 158">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88DE9B99-ADEF-4DA4-A716-52D0A8BE5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ZA"/>
          </a:p>
        </p:txBody>
      </p:sp>
      <p:sp>
        <p:nvSpPr>
          <p:cNvPr id="163" name="Rectangle 162">
            <a:extLst>
              <a:ext uri="{FF2B5EF4-FFF2-40B4-BE49-F238E27FC236}">
                <a16:creationId xmlns:a16="http://schemas.microsoft.com/office/drawing/2014/main" id="{6E20860D-8992-496E-BC22-8450E344B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ZA"/>
          </a:p>
        </p:txBody>
      </p:sp>
      <p:sp>
        <p:nvSpPr>
          <p:cNvPr id="165" name="Rectangle 164">
            <a:extLst>
              <a:ext uri="{FF2B5EF4-FFF2-40B4-BE49-F238E27FC236}">
                <a16:creationId xmlns:a16="http://schemas.microsoft.com/office/drawing/2014/main" id="{7203729A-66E4-4139-B3DB-CECEF6DA5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48B0185-BF60-40FC-A3B6-BF883AD4E7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69" name="Rectangle 168">
            <a:extLst>
              <a:ext uri="{FF2B5EF4-FFF2-40B4-BE49-F238E27FC236}">
                <a16:creationId xmlns:a16="http://schemas.microsoft.com/office/drawing/2014/main" id="{75FF99E5-A26E-4AC8-AA09-A9F829E3A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txBody>
          <a:bodyPr/>
          <a:lstStyle/>
          <a:p>
            <a:endParaRPr lang="en-ZA"/>
          </a:p>
        </p:txBody>
      </p:sp>
      <p:sp>
        <p:nvSpPr>
          <p:cNvPr id="2" name="TextBox 1">
            <a:extLst>
              <a:ext uri="{FF2B5EF4-FFF2-40B4-BE49-F238E27FC236}">
                <a16:creationId xmlns:a16="http://schemas.microsoft.com/office/drawing/2014/main" id="{AC0CA8DC-B139-E6FB-BBF1-1566CECA1E72}"/>
              </a:ext>
            </a:extLst>
          </p:cNvPr>
          <p:cNvSpPr txBox="1"/>
          <p:nvPr/>
        </p:nvSpPr>
        <p:spPr>
          <a:xfrm>
            <a:off x="723619" y="891241"/>
            <a:ext cx="3939084" cy="5075519"/>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r>
              <a:rPr lang="en-US" sz="4000" b="1">
                <a:solidFill>
                  <a:schemeClr val="tx1">
                    <a:lumMod val="85000"/>
                    <a:lumOff val="15000"/>
                  </a:schemeClr>
                </a:solidFill>
                <a:latin typeface="+mj-lt"/>
              </a:rPr>
              <a:t>Conclusion</a:t>
            </a:r>
            <a:r>
              <a:rPr lang="en-US" sz="4000">
                <a:solidFill>
                  <a:schemeClr val="tx1">
                    <a:lumMod val="85000"/>
                    <a:lumOff val="15000"/>
                  </a:schemeClr>
                </a:solidFill>
                <a:latin typeface="+mj-lt"/>
              </a:rPr>
              <a:t> </a:t>
            </a:r>
          </a:p>
        </p:txBody>
      </p:sp>
      <p:cxnSp>
        <p:nvCxnSpPr>
          <p:cNvPr id="171" name="Straight Connector 170">
            <a:extLst>
              <a:ext uri="{FF2B5EF4-FFF2-40B4-BE49-F238E27FC236}">
                <a16:creationId xmlns:a16="http://schemas.microsoft.com/office/drawing/2014/main" id="{8A5AEE14-4971-4A17-9134-2678A90F29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9078" y="2057401"/>
            <a:ext cx="0" cy="274320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Rectangle 1">
            <a:extLst>
              <a:ext uri="{FF2B5EF4-FFF2-40B4-BE49-F238E27FC236}">
                <a16:creationId xmlns:a16="http://schemas.microsoft.com/office/drawing/2014/main" id="{AB971916-6256-D5DF-D15B-FCA8150D2D15}"/>
              </a:ext>
            </a:extLst>
          </p:cNvPr>
          <p:cNvSpPr>
            <a:spLocks noChangeArrowheads="1"/>
          </p:cNvSpPr>
          <p:nvPr/>
        </p:nvSpPr>
        <p:spPr bwMode="auto">
          <a:xfrm>
            <a:off x="5300812" y="891241"/>
            <a:ext cx="5978834" cy="50755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r>
              <a:rPr lang="en-US" sz="1600" dirty="0"/>
              <a:t>The Contract Monthly Claim System (CMCS) has progressed from a basic claim form into a fully structured, institution ready application.</a:t>
            </a:r>
          </a:p>
          <a:p>
            <a:br>
              <a:rPr lang="en-US" sz="1600" dirty="0"/>
            </a:br>
            <a:r>
              <a:rPr lang="en-US" sz="1600" dirty="0"/>
              <a:t>◦ Part 3 expanded the system with multi-role workflows, HR functions and several enhancements identified in the Part 2 feedback.</a:t>
            </a:r>
            <a:br>
              <a:rPr lang="en-US" sz="1600" dirty="0"/>
            </a:br>
            <a:r>
              <a:rPr lang="en-US" sz="1600" dirty="0"/>
              <a:t>The completed solution now delivers:</a:t>
            </a:r>
          </a:p>
          <a:p>
            <a:endParaRPr lang="en-US" sz="1600" dirty="0"/>
          </a:p>
          <a:p>
            <a:r>
              <a:rPr lang="en-US" sz="1600" dirty="0"/>
              <a:t> ◦ A complete four-stage workflow: Lecturer → </a:t>
            </a:r>
            <a:r>
              <a:rPr lang="en-US" sz="1600" dirty="0" err="1"/>
              <a:t>Programme</a:t>
            </a:r>
            <a:r>
              <a:rPr lang="en-US" sz="1600" dirty="0"/>
              <a:t> Coordinator → Academic Manager → HR</a:t>
            </a:r>
            <a:br>
              <a:rPr lang="en-US" sz="1600" dirty="0"/>
            </a:br>
            <a:r>
              <a:rPr lang="en-US" sz="1600" dirty="0"/>
              <a:t> ◦ HR managed lecturer profiles, rates and active/inactive status</a:t>
            </a:r>
            <a:br>
              <a:rPr lang="en-US" sz="1600" dirty="0"/>
            </a:br>
            <a:r>
              <a:rPr lang="en-US" sz="1600" dirty="0"/>
              <a:t> ◦ Strong validation rules and enforced workflow transitions</a:t>
            </a:r>
            <a:br>
              <a:rPr lang="en-US" sz="1600" dirty="0"/>
            </a:br>
            <a:r>
              <a:rPr lang="en-US" sz="1600" dirty="0"/>
              <a:t> ◦ Document upload logic with size or type controls</a:t>
            </a:r>
            <a:br>
              <a:rPr lang="en-US" sz="1600" dirty="0"/>
            </a:br>
            <a:r>
              <a:rPr lang="en-US" sz="1600" dirty="0"/>
              <a:t> ◦ Monthly summaries, totals and printable invoice pages</a:t>
            </a:r>
            <a:br>
              <a:rPr lang="en-US" sz="1600" dirty="0"/>
            </a:br>
            <a:r>
              <a:rPr lang="en-US" sz="1600" dirty="0"/>
              <a:t> ◦ A consistent UI that supports role-based access and clear navigation</a:t>
            </a:r>
          </a:p>
          <a:p>
            <a:endParaRPr lang="en-US" sz="1600" dirty="0"/>
          </a:p>
          <a:p>
            <a:r>
              <a:rPr lang="en-US" sz="1600" dirty="0"/>
              <a:t>Together, these components demonstrate how a focused web application can streamline real administrative processes, reduce manual workload and provide accurate, auditable outcomes for institutions.</a:t>
            </a:r>
          </a:p>
          <a:p>
            <a:pPr marR="0" lvl="0" defTabSz="914400" fontAlgn="base">
              <a:lnSpc>
                <a:spcPct val="90000"/>
              </a:lnSpc>
              <a:spcBef>
                <a:spcPct val="0"/>
              </a:spcBef>
              <a:spcAft>
                <a:spcPts val="600"/>
              </a:spcAft>
              <a:buClr>
                <a:schemeClr val="tx1">
                  <a:lumMod val="85000"/>
                  <a:lumOff val="15000"/>
                </a:schemeClr>
              </a:buClr>
              <a:buSzTx/>
              <a:tabLst/>
            </a:pPr>
            <a:endParaRPr kumimoji="0" lang="en-US" altLang="en-US" sz="1500" b="0" i="0" u="none" strike="noStrike" cap="none" normalizeH="0" baseline="0" dirty="0">
              <a:ln>
                <a:noFill/>
              </a:ln>
              <a:effectLst/>
            </a:endParaRPr>
          </a:p>
        </p:txBody>
      </p:sp>
    </p:spTree>
    <p:extLst>
      <p:ext uri="{BB962C8B-B14F-4D97-AF65-F5344CB8AC3E}">
        <p14:creationId xmlns:p14="http://schemas.microsoft.com/office/powerpoint/2010/main" val="351820055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802517-FD5A-4D6F-9BEF-6B50583B6D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3D0E2C-DCCF-4DCA-8700-60C67A2E1F4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B13FC90C-E938-4D14-B988-1AABB7F8F3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Savon design</Template>
  <TotalTime>1143</TotalTime>
  <Words>1405</Words>
  <Application>Microsoft Office PowerPoint</Application>
  <PresentationFormat>Widescreen</PresentationFormat>
  <Paragraphs>96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Garamond</vt:lpstr>
      <vt:lpstr>SavonVTI</vt:lpstr>
      <vt:lpstr>Contract Monthly Claim System</vt:lpstr>
      <vt:lpstr>Name: Mamaphale Tema Student Number: ST10443515 Group Number: 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Mamaphale Tema</dc:creator>
  <cp:lastModifiedBy>Mamaphale Tema</cp:lastModifiedBy>
  <cp:revision>2</cp:revision>
  <dcterms:created xsi:type="dcterms:W3CDTF">2025-11-20T20:18:34Z</dcterms:created>
  <dcterms:modified xsi:type="dcterms:W3CDTF">2025-11-21T15:22:11Z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